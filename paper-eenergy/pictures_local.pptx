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1" r:id="rId3"/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8"/>
        <p:guide pos="383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81095" y="1053465"/>
            <a:ext cx="1600200" cy="4933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requests</a:t>
            </a:r>
            <a:endParaRPr sz="160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cxnSp>
        <p:nvCxnSpPr>
          <p:cNvPr id="4" name="Connector 3"/>
          <p:cNvCxnSpPr>
            <a:stCxn id="2" idx="2"/>
            <a:endCxn id="5" idx="0"/>
          </p:cNvCxnSpPr>
          <p:nvPr/>
        </p:nvCxnSpPr>
        <p:spPr>
          <a:xfrm>
            <a:off x="4481513" y="1546860"/>
            <a:ext cx="635" cy="292735"/>
          </a:xfrm>
          <a:prstGeom prst="line">
            <a:avLst/>
          </a:prstGeom>
          <a:ln w="1651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630170" y="1839595"/>
            <a:ext cx="3702685" cy="71183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router</a:t>
            </a:r>
            <a:endParaRPr sz="2000" b="1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  <a:p>
            <a:pPr algn="ctr"/>
            <a:endParaRPr sz="2000" b="1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65158" y="2253741"/>
            <a:ext cx="27432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picks a replica for each request</a:t>
            </a:r>
            <a:endParaRPr sz="1400" b="0" i="1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96478" y="3004184"/>
            <a:ext cx="868680" cy="99898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18093" y="3125800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2991422" y="3125800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18093" y="3386404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991422" y="3386404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18093" y="3647008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991422" y="3647008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67878" y="4019803"/>
            <a:ext cx="13258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replica 1</a:t>
            </a:r>
            <a:endParaRPr sz="1400" b="0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65513" y="3004184"/>
            <a:ext cx="868680" cy="99898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587128" y="3125800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160457" y="3125800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587128" y="3386404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160457" y="3386404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587128" y="3647008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160457" y="3647008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75953" y="4036314"/>
            <a:ext cx="13258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2E7D4F"/>
                </a:solidFill>
                <a:latin typeface="Arial Regular" panose="020B0604020202090204" charset="0"/>
                <a:cs typeface="Arial Regular" panose="020B0604020202090204" charset="0"/>
              </a:rPr>
              <a:t>replica 2</a:t>
            </a:r>
            <a:endParaRPr sz="1400" b="1" i="0">
              <a:solidFill>
                <a:srgbClr val="2E7D4F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634548" y="3004185"/>
            <a:ext cx="868680" cy="99898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756163" y="3125800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329492" y="3125800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56163" y="3386404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329492" y="3386404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756163" y="3647008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5329492" y="3647008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450398" y="4036313"/>
            <a:ext cx="13258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replica 3</a:t>
            </a:r>
            <a:endParaRPr sz="1400" b="0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797868" y="3023235"/>
            <a:ext cx="868680" cy="99898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919483" y="3144850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492812" y="3144850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919483" y="3405454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6492812" y="3405454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919483" y="3666058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492812" y="3666058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69268" y="4050919"/>
            <a:ext cx="13258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replica 4</a:t>
            </a:r>
            <a:endParaRPr sz="1400" b="0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752407" y="4267834"/>
            <a:ext cx="34290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replicas serving the same model</a:t>
            </a:r>
            <a:endParaRPr sz="1400" b="0" i="1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3238" y="5989320"/>
            <a:ext cx="1115568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Times New Roman" panose="02020503050405090304"/>
              </a:rPr>
              <a:t>Fig. 1. </a:t>
            </a:r>
            <a:r>
              <a:rPr sz="1100" b="0" i="0">
                <a:solidFill>
                  <a:srgbClr val="000000"/>
                </a:solidFill>
                <a:latin typeface="Times New Roman" panose="02020503050405090304"/>
              </a:rPr>
              <a:t>LLM request routing: an incoming stream of requests is dispatched, one request at a time, to one of several replicas serving the same model.</a:t>
            </a:r>
            <a:endParaRPr sz="1100" b="0" i="0">
              <a:solidFill>
                <a:srgbClr val="000000"/>
              </a:solidFill>
              <a:latin typeface="Times New Roman" panose="02020503050405090304"/>
            </a:endParaRPr>
          </a:p>
        </p:txBody>
      </p:sp>
      <p:cxnSp>
        <p:nvCxnSpPr>
          <p:cNvPr id="3" name="Connector 3"/>
          <p:cNvCxnSpPr>
            <a:stCxn id="5" idx="2"/>
            <a:endCxn id="7" idx="0"/>
          </p:cNvCxnSpPr>
          <p:nvPr/>
        </p:nvCxnSpPr>
        <p:spPr>
          <a:xfrm flipH="1">
            <a:off x="2730818" y="2551430"/>
            <a:ext cx="1750695" cy="452755"/>
          </a:xfrm>
          <a:prstGeom prst="line">
            <a:avLst/>
          </a:prstGeom>
          <a:ln w="1651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3"/>
          <p:cNvCxnSpPr>
            <a:stCxn id="5" idx="2"/>
            <a:endCxn id="16" idx="0"/>
          </p:cNvCxnSpPr>
          <p:nvPr/>
        </p:nvCxnSpPr>
        <p:spPr>
          <a:xfrm flipH="1">
            <a:off x="3899853" y="2551430"/>
            <a:ext cx="581660" cy="452755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3"/>
          <p:cNvCxnSpPr>
            <a:stCxn id="5" idx="2"/>
            <a:endCxn id="25" idx="0"/>
          </p:cNvCxnSpPr>
          <p:nvPr/>
        </p:nvCxnSpPr>
        <p:spPr>
          <a:xfrm>
            <a:off x="4481513" y="2551430"/>
            <a:ext cx="587375" cy="452755"/>
          </a:xfrm>
          <a:prstGeom prst="line">
            <a:avLst/>
          </a:prstGeom>
          <a:ln w="1651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"/>
          <p:cNvCxnSpPr>
            <a:endCxn id="34" idx="0"/>
          </p:cNvCxnSpPr>
          <p:nvPr/>
        </p:nvCxnSpPr>
        <p:spPr>
          <a:xfrm>
            <a:off x="4461828" y="2529840"/>
            <a:ext cx="1770380" cy="493395"/>
          </a:xfrm>
          <a:prstGeom prst="line">
            <a:avLst/>
          </a:prstGeom>
          <a:ln w="1651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05840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Power-aware routing: strategy overview</a:t>
            </a:r>
            <a:endParaRPr sz="2400" b="1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Each request is dispatched to the replica that minimizes its own worst-off resource share.</a:t>
            </a:r>
            <a:endParaRPr sz="1300" b="0" i="1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2300" y="1994535"/>
            <a:ext cx="1233805" cy="7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request</a:t>
            </a:r>
            <a:endParaRPr sz="130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331720" y="1884045"/>
            <a:ext cx="4178300" cy="93472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63292" y="1883156"/>
            <a:ext cx="5111496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router</a:t>
            </a:r>
            <a:r>
              <a:rPr sz="1100" b="0" i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sz="1100" b="0" i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endParaRPr lang="en-US" sz="1100" b="0" i="1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3292" y="2243328"/>
            <a:ext cx="5111496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dispatch</a:t>
            </a:r>
            <a:r>
              <a:rPr lang="en-US" sz="125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 according to</a:t>
            </a:r>
            <a:r>
              <a:rPr sz="125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 argmin T(c)</a:t>
            </a:r>
            <a:endParaRPr sz="1250" b="1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63292" y="2536190"/>
            <a:ext cx="5111496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T = (</a:t>
            </a:r>
            <a:r>
              <a:rPr lang="en-US" sz="1100" b="0" i="0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max(power, load, compute)</a:t>
            </a:r>
            <a:r>
              <a:rPr sz="1100" b="0" i="0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, power, load, compute)</a:t>
            </a:r>
            <a:endParaRPr sz="1100" b="0" i="0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1335" y="3260090"/>
            <a:ext cx="25146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639" y="3333242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replica 1</a:t>
            </a:r>
            <a:endParaRPr sz="1250" b="1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5383" y="3662426"/>
            <a:ext cx="1984248" cy="1051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05383" y="3662426"/>
            <a:ext cx="1686610" cy="105156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351" y="3616706"/>
            <a:ext cx="219456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6F9E"/>
                </a:solidFill>
                <a:latin typeface="Arial Regular" panose="020B0604020202090204" charset="0"/>
                <a:cs typeface="Arial Regular" panose="020B0604020202090204" charset="0"/>
              </a:rPr>
              <a:t>c</a:t>
            </a:r>
            <a:endParaRPr sz="1000" b="1" i="0">
              <a:solidFill>
                <a:srgbClr val="2E6F9E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05383" y="3831590"/>
            <a:ext cx="1984248" cy="1051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5383" y="3831590"/>
            <a:ext cx="793699" cy="105156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351" y="3785870"/>
            <a:ext cx="219456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6E4E86"/>
                </a:solidFill>
                <a:latin typeface="Arial Regular" panose="020B0604020202090204" charset="0"/>
                <a:cs typeface="Arial Regular" panose="020B0604020202090204" charset="0"/>
              </a:rPr>
              <a:t>l</a:t>
            </a:r>
            <a:endParaRPr sz="1000" b="1" i="0">
              <a:solidFill>
                <a:srgbClr val="6E4E86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5383" y="4000754"/>
            <a:ext cx="1984248" cy="1051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05383" y="4000754"/>
            <a:ext cx="694486" cy="105156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351" y="3955034"/>
            <a:ext cx="219456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A85A28"/>
                </a:solidFill>
                <a:latin typeface="Arial Regular" panose="020B0604020202090204" charset="0"/>
                <a:cs typeface="Arial Regular" panose="020B0604020202090204" charset="0"/>
              </a:rPr>
              <a:t>p</a:t>
            </a:r>
            <a:endParaRPr sz="1000" b="1" i="0">
              <a:solidFill>
                <a:srgbClr val="A85A28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73095" y="3260089"/>
            <a:ext cx="2514600" cy="1051560"/>
          </a:xfrm>
          <a:prstGeom prst="roundRect">
            <a:avLst>
              <a:gd name="adj" fmla="val 5000"/>
            </a:avLst>
          </a:prstGeom>
          <a:solidFill>
            <a:srgbClr val="E9F5EC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19729" y="3333241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2E7D4F"/>
                </a:solidFill>
                <a:latin typeface="Arial Regular" panose="020B0604020202090204" charset="0"/>
                <a:cs typeface="Arial Regular" panose="020B0604020202090204" charset="0"/>
              </a:rPr>
              <a:t>replica 2   (chosen)</a:t>
            </a:r>
            <a:endParaRPr sz="1250" b="1" i="0">
              <a:solidFill>
                <a:srgbClr val="2E7D4F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473" y="3662425"/>
            <a:ext cx="1984248" cy="1051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57473" y="3662425"/>
            <a:ext cx="992124" cy="105156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01441" y="3616706"/>
            <a:ext cx="219456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6F9E"/>
                </a:solidFill>
                <a:latin typeface="Arial Regular" panose="020B0604020202090204" charset="0"/>
                <a:cs typeface="Arial Regular" panose="020B0604020202090204" charset="0"/>
              </a:rPr>
              <a:t>c</a:t>
            </a:r>
            <a:endParaRPr sz="1000" b="1" i="0">
              <a:solidFill>
                <a:srgbClr val="2E6F9E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657473" y="3831589"/>
            <a:ext cx="1984248" cy="1051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657473" y="3831589"/>
            <a:ext cx="892911" cy="105156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01441" y="3785870"/>
            <a:ext cx="219456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6E4E86"/>
                </a:solidFill>
                <a:latin typeface="Arial Regular" panose="020B0604020202090204" charset="0"/>
                <a:cs typeface="Arial Regular" panose="020B0604020202090204" charset="0"/>
              </a:rPr>
              <a:t>l</a:t>
            </a:r>
            <a:endParaRPr sz="1000" b="1" i="0">
              <a:solidFill>
                <a:srgbClr val="6E4E86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57473" y="4000753"/>
            <a:ext cx="1984248" cy="1051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657473" y="4000753"/>
            <a:ext cx="793699" cy="105156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401441" y="3955033"/>
            <a:ext cx="219456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A85A28"/>
                </a:solidFill>
                <a:latin typeface="Arial Regular" panose="020B0604020202090204" charset="0"/>
                <a:cs typeface="Arial Regular" panose="020B0604020202090204" charset="0"/>
              </a:rPr>
              <a:t>p</a:t>
            </a:r>
            <a:endParaRPr sz="1000" b="1" i="0">
              <a:solidFill>
                <a:srgbClr val="A85A28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813425" y="3260089"/>
            <a:ext cx="25146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59729" y="3333242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replica 3</a:t>
            </a:r>
            <a:endParaRPr sz="1250" b="1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197473" y="3662426"/>
            <a:ext cx="1984248" cy="1051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97473" y="3662426"/>
            <a:ext cx="595274" cy="105156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41441" y="3616706"/>
            <a:ext cx="219456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6F9E"/>
                </a:solidFill>
                <a:latin typeface="Arial Regular" panose="020B0604020202090204" charset="0"/>
                <a:cs typeface="Arial Regular" panose="020B0604020202090204" charset="0"/>
              </a:rPr>
              <a:t>c</a:t>
            </a:r>
            <a:endParaRPr sz="1000" b="1" i="0">
              <a:solidFill>
                <a:srgbClr val="2E6F9E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97473" y="3831589"/>
            <a:ext cx="1984248" cy="1051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97473" y="3831589"/>
            <a:ext cx="694486" cy="105156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41441" y="3785870"/>
            <a:ext cx="219456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6E4E86"/>
                </a:solidFill>
                <a:latin typeface="Arial Regular" panose="020B0604020202090204" charset="0"/>
                <a:cs typeface="Arial Regular" panose="020B0604020202090204" charset="0"/>
              </a:rPr>
              <a:t>l</a:t>
            </a:r>
            <a:endParaRPr sz="1000" b="1" i="0">
              <a:solidFill>
                <a:srgbClr val="6E4E86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197473" y="4000754"/>
            <a:ext cx="1984248" cy="1051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197473" y="4000754"/>
            <a:ext cx="1785823" cy="105156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941441" y="3955034"/>
            <a:ext cx="219456" cy="196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A85A28"/>
                </a:solidFill>
                <a:latin typeface="Arial Regular" panose="020B0604020202090204" charset="0"/>
                <a:cs typeface="Arial Regular" panose="020B0604020202090204" charset="0"/>
              </a:rPr>
              <a:t>p</a:t>
            </a:r>
            <a:endParaRPr sz="1000" b="1" i="0">
              <a:solidFill>
                <a:srgbClr val="A85A28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84505" y="4502657"/>
            <a:ext cx="137160" cy="13716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85673" y="443865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compute</a:t>
            </a:r>
            <a:endParaRPr sz="1200" b="0" i="0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718945" y="4502657"/>
            <a:ext cx="137160" cy="137160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920113" y="443865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load</a:t>
            </a:r>
            <a:endParaRPr sz="1200" b="0" i="0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953385" y="4502657"/>
            <a:ext cx="137160" cy="137160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154553" y="443865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power</a:t>
            </a:r>
            <a:endParaRPr sz="1200" b="0" i="0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35040" y="576072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guarantee: </a:t>
            </a:r>
            <a:r>
              <a:rPr sz="120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the sorted, tie-broken rule is Pareto-non-dominated at every decision</a:t>
            </a:r>
            <a:endParaRPr sz="1200" b="0" i="1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cxnSp>
        <p:nvCxnSpPr>
          <p:cNvPr id="58" name="Straight Arrow Connector 57"/>
          <p:cNvCxnSpPr>
            <a:stCxn id="4" idx="3"/>
            <a:endCxn id="6" idx="1"/>
          </p:cNvCxnSpPr>
          <p:nvPr/>
        </p:nvCxnSpPr>
        <p:spPr>
          <a:xfrm>
            <a:off x="1856105" y="2350135"/>
            <a:ext cx="475615" cy="1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6" idx="2"/>
            <a:endCxn id="12" idx="0"/>
          </p:cNvCxnSpPr>
          <p:nvPr/>
        </p:nvCxnSpPr>
        <p:spPr>
          <a:xfrm flipH="1">
            <a:off x="1778635" y="2818765"/>
            <a:ext cx="2642235" cy="4413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endCxn id="24" idx="0"/>
          </p:cNvCxnSpPr>
          <p:nvPr/>
        </p:nvCxnSpPr>
        <p:spPr>
          <a:xfrm>
            <a:off x="4430395" y="2835275"/>
            <a:ext cx="0" cy="4248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endCxn id="36" idx="0"/>
          </p:cNvCxnSpPr>
          <p:nvPr/>
        </p:nvCxnSpPr>
        <p:spPr>
          <a:xfrm>
            <a:off x="4417060" y="2823845"/>
            <a:ext cx="2653665" cy="4362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The three resource shares</a:t>
            </a:r>
            <a:endParaRPr sz="2400" b="1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Every candidate replica is scored on three axes, each normalized so 1.0 means “at capacity.”</a:t>
            </a:r>
            <a:endParaRPr sz="1300" b="0" i="1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6968" y="1527048"/>
            <a:ext cx="182880" cy="18288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9576" y="1490472"/>
            <a:ext cx="278983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Share</a:t>
            </a:r>
            <a:r>
              <a:rPr sz="1600" b="1" i="0">
                <a:solidFill>
                  <a:srgbClr val="2E6F9E"/>
                </a:solidFill>
                <a:latin typeface="Arial Regular" panose="020B0604020202090204" charset="0"/>
                <a:cs typeface="Arial Regular" panose="020B0604020202090204" charset="0"/>
              </a:rPr>
              <a:t>_compute</a:t>
            </a:r>
            <a:r>
              <a:rPr sz="160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(c)</a:t>
            </a:r>
            <a:endParaRPr sz="1600" b="1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" y="1929384"/>
            <a:ext cx="30824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P-token(c) / token_budget(c)</a:t>
            </a:r>
            <a:endParaRPr sz="1200" b="0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7095" y="2221865"/>
            <a:ext cx="3082290" cy="833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New prefill tokens this request would cost replica c, discounted by its own prefix-cache state — not raw prompt length.</a:t>
            </a:r>
            <a:endParaRPr sz="1250" b="0" i="0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6968" y="2835909"/>
            <a:ext cx="308244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example  </a:t>
            </a:r>
            <a:r>
              <a:rPr sz="1200" b="1" i="0">
                <a:solidFill>
                  <a:srgbClr val="2E6F9E"/>
                </a:solidFill>
                <a:latin typeface="Arial Regular" panose="020B0604020202090204" charset="0"/>
                <a:cs typeface="Arial Regular" panose="020B0604020202090204" charset="0"/>
              </a:rPr>
              <a:t>0.62</a:t>
            </a:r>
            <a:endParaRPr sz="1200" b="1" i="0">
              <a:solidFill>
                <a:srgbClr val="2E6F9E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6968" y="3110229"/>
            <a:ext cx="3082442" cy="13716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6968" y="3110229"/>
            <a:ext cx="1911114" cy="13716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3475990"/>
            <a:ext cx="30824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equals 0 exactly on a full cache hit</a:t>
            </a:r>
            <a:endParaRPr sz="1100" b="0" i="1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54626" y="1527048"/>
            <a:ext cx="182880" cy="182880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47234" y="1490472"/>
            <a:ext cx="278983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Share</a:t>
            </a:r>
            <a:r>
              <a:rPr sz="1600" b="1" i="0">
                <a:solidFill>
                  <a:srgbClr val="6E4E86"/>
                </a:solidFill>
                <a:latin typeface="Arial Regular" panose="020B0604020202090204" charset="0"/>
                <a:cs typeface="Arial Regular" panose="020B0604020202090204" charset="0"/>
              </a:rPr>
              <a:t>_load</a:t>
            </a:r>
            <a:r>
              <a:rPr sz="160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(c)</a:t>
            </a:r>
            <a:endParaRPr sz="1600" b="1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54626" y="1929384"/>
            <a:ext cx="30824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in_flight_after(c) / max_num_seqs(c)</a:t>
            </a:r>
            <a:endParaRPr sz="1200" b="0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54626" y="2221230"/>
            <a:ext cx="3082442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In-flight request count after this request is hypothetically added, normalized to the replica's concurrency ceiling.</a:t>
            </a:r>
            <a:endParaRPr sz="1250" b="0" i="0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4626" y="2835909"/>
            <a:ext cx="308244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example  </a:t>
            </a:r>
            <a:r>
              <a:rPr sz="1200" b="1" i="0">
                <a:solidFill>
                  <a:srgbClr val="6E4E86"/>
                </a:solidFill>
                <a:latin typeface="Arial Regular" panose="020B0604020202090204" charset="0"/>
                <a:cs typeface="Arial Regular" panose="020B0604020202090204" charset="0"/>
              </a:rPr>
              <a:t>0.45</a:t>
            </a:r>
            <a:endParaRPr sz="1200" b="1" i="0">
              <a:solidFill>
                <a:srgbClr val="6E4E86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54626" y="3110229"/>
            <a:ext cx="3082442" cy="13716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54626" y="3110229"/>
            <a:ext cx="1387099" cy="137160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54626" y="3475990"/>
            <a:ext cx="30824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a one-step, per-request projection</a:t>
            </a:r>
            <a:endParaRPr sz="1100" b="0" i="1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22284" y="1527048"/>
            <a:ext cx="182880" cy="182880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14892" y="1490472"/>
            <a:ext cx="278983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Share</a:t>
            </a:r>
            <a:r>
              <a:rPr sz="1600" b="1" i="0">
                <a:solidFill>
                  <a:srgbClr val="A85A28"/>
                </a:solidFill>
                <a:latin typeface="Arial Regular" panose="020B0604020202090204" charset="0"/>
                <a:cs typeface="Arial Regular" panose="020B0604020202090204" charset="0"/>
              </a:rPr>
              <a:t>_power</a:t>
            </a:r>
            <a:r>
              <a:rPr sz="160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(c)</a:t>
            </a:r>
            <a:endParaRPr sz="1600" b="1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2284" y="1929384"/>
            <a:ext cx="30824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max(ramp_rate(c), 0) / ramp_ceiling(c)</a:t>
            </a:r>
            <a:endParaRPr sz="1200" b="0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2284" y="2232660"/>
            <a:ext cx="3082442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The replica's own live, NVML-measured power-ramp rate, normalized to a per-GPU-calibrated ceiling.</a:t>
            </a:r>
            <a:endParaRPr sz="1250" b="0" i="0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2284" y="2835909"/>
            <a:ext cx="308244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example  </a:t>
            </a:r>
            <a:r>
              <a:rPr sz="1200" b="1" i="0">
                <a:solidFill>
                  <a:srgbClr val="A85A28"/>
                </a:solidFill>
                <a:latin typeface="Arial Regular" panose="020B0604020202090204" charset="0"/>
                <a:cs typeface="Arial Regular" panose="020B0604020202090204" charset="0"/>
              </a:rPr>
              <a:t>0.30</a:t>
            </a:r>
            <a:endParaRPr sz="1200" b="1" i="0">
              <a:solidFill>
                <a:srgbClr val="A85A28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222284" y="3110229"/>
            <a:ext cx="3082442" cy="13716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22284" y="3110229"/>
            <a:ext cx="924732" cy="137160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2284" y="3475990"/>
            <a:ext cx="30824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clamped ≥ 0 — a decision can only push power up</a:t>
            </a:r>
            <a:endParaRPr sz="1100" b="0" i="1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05840" y="3888740"/>
            <a:ext cx="10180015" cy="438912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88720" y="3888740"/>
            <a:ext cx="9814255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D(c) = max( compute, load, power )</a:t>
            </a:r>
            <a:r>
              <a:rPr sz="115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   route to the candidate that minimizes its own worst-off share</a:t>
            </a:r>
            <a:endParaRPr sz="1150" b="0" i="1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mbria"/>
              </a:rPr>
              <a:t>(a)</a:t>
            </a:r>
            <a:endParaRPr sz="1300" b="1" i="0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1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mbria"/>
              </a:rPr>
              <a:t>Request: </a:t>
            </a:r>
            <a:r>
              <a:rPr sz="1200" b="0" i="1">
                <a:solidFill>
                  <a:srgbClr val="4A4A4A"/>
                </a:solidFill>
                <a:latin typeface="Cambria"/>
              </a:rPr>
              <a:t>“which replica should serve this?”</a:t>
            </a:r>
            <a:endParaRPr sz="1200" b="0" i="1">
              <a:solidFill>
                <a:srgbClr val="4A4A4A"/>
              </a:solidFill>
              <a:latin typeface="Cambr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01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5528" y="1051560"/>
            <a:ext cx="201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" y="1051560"/>
            <a:ext cx="201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9304" y="1051560"/>
            <a:ext cx="201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81912" y="1188719"/>
            <a:ext cx="457200" cy="0"/>
          </a:xfrm>
          <a:prstGeom prst="line">
            <a:avLst/>
          </a:prstGeom>
          <a:ln w="1397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03120" y="1005839"/>
            <a:ext cx="502920" cy="3419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04288" y="1347825"/>
            <a:ext cx="100584" cy="704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203704" y="1418234"/>
            <a:ext cx="30175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24912" y="1188719"/>
            <a:ext cx="457200" cy="0"/>
          </a:xfrm>
          <a:prstGeom prst="line">
            <a:avLst/>
          </a:prstGeom>
          <a:ln w="1397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73552" y="1051560"/>
            <a:ext cx="201168" cy="27432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40" y="1051560"/>
            <a:ext cx="201168" cy="27432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67328" y="1051560"/>
            <a:ext cx="201168" cy="27432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14216" y="1051560"/>
            <a:ext cx="201168" cy="27432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61104" y="1051560"/>
            <a:ext cx="201168" cy="27432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07992" y="1051560"/>
            <a:ext cx="201168" cy="27432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1" y="167335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20" b="1">
                <a:solidFill>
                  <a:srgbClr val="000000"/>
                </a:solidFill>
                <a:latin typeface="Cambria"/>
              </a:rPr>
              <a:t>1</a:t>
            </a:r>
            <a:endParaRPr sz="1020" b="1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203911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mbria"/>
              </a:rPr>
              <a:t>the prefill phase</a:t>
            </a:r>
            <a:endParaRPr sz="1150" b="0" i="0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3438144" y="167335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20" b="1">
                <a:solidFill>
                  <a:srgbClr val="000000"/>
                </a:solidFill>
                <a:latin typeface="Cambria"/>
              </a:rPr>
              <a:t>2</a:t>
            </a:r>
            <a:endParaRPr sz="1020" b="1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19272" y="20391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mbria"/>
              </a:rPr>
              <a:t>the decode phase (one token at a time)</a:t>
            </a:r>
            <a:endParaRPr sz="1150" b="0" i="0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788920"/>
            <a:ext cx="2377440" cy="384048"/>
          </a:xfrm>
          <a:prstGeom prst="rect">
            <a:avLst/>
          </a:prstGeom>
          <a:solidFill>
            <a:srgbClr val="E3B7A6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26080" y="2788920"/>
            <a:ext cx="926592" cy="384048"/>
          </a:xfrm>
          <a:prstGeom prst="rect">
            <a:avLst/>
          </a:prstGeom>
          <a:solidFill>
            <a:srgbClr val="DCE3EA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70960" y="2788920"/>
            <a:ext cx="926592" cy="384048"/>
          </a:xfrm>
          <a:prstGeom prst="rect">
            <a:avLst/>
          </a:prstGeom>
          <a:solidFill>
            <a:srgbClr val="DCE3EA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15840" y="2788920"/>
            <a:ext cx="926592" cy="384048"/>
          </a:xfrm>
          <a:prstGeom prst="rect">
            <a:avLst/>
          </a:prstGeom>
          <a:solidFill>
            <a:srgbClr val="DCE3EA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0720" y="2788920"/>
            <a:ext cx="926592" cy="384048"/>
          </a:xfrm>
          <a:prstGeom prst="rect">
            <a:avLst/>
          </a:prstGeom>
          <a:solidFill>
            <a:srgbClr val="DCE3EA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5600" y="2788920"/>
            <a:ext cx="926592" cy="384048"/>
          </a:xfrm>
          <a:prstGeom prst="rect">
            <a:avLst/>
          </a:prstGeom>
          <a:solidFill>
            <a:srgbClr val="DCE3EA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50480" y="2788920"/>
            <a:ext cx="926592" cy="384048"/>
          </a:xfrm>
          <a:prstGeom prst="rect">
            <a:avLst/>
          </a:prstGeom>
          <a:solidFill>
            <a:srgbClr val="DCE3EA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95360" y="2788920"/>
            <a:ext cx="926592" cy="384048"/>
          </a:xfrm>
          <a:prstGeom prst="rect">
            <a:avLst/>
          </a:prstGeom>
          <a:solidFill>
            <a:srgbClr val="DCE3EA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40240" y="2788920"/>
            <a:ext cx="926592" cy="384048"/>
          </a:xfrm>
          <a:prstGeom prst="rect">
            <a:avLst/>
          </a:prstGeom>
          <a:solidFill>
            <a:srgbClr val="DCE3EA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85120" y="2788920"/>
            <a:ext cx="926592" cy="384048"/>
          </a:xfrm>
          <a:prstGeom prst="rect">
            <a:avLst/>
          </a:prstGeom>
          <a:solidFill>
            <a:srgbClr val="DCE3EA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49631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000000"/>
                </a:solidFill>
                <a:latin typeface="Cambria"/>
              </a:rPr>
              <a:t>prefill</a:t>
            </a:r>
            <a:endParaRPr sz="1150" b="1" i="0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26080" y="2496312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000000"/>
                </a:solidFill>
                <a:latin typeface="Cambria"/>
              </a:rPr>
              <a:t>decode  (repeats until stop)</a:t>
            </a:r>
            <a:endParaRPr sz="1150" b="1" i="0">
              <a:solidFill>
                <a:srgbClr val="000000"/>
              </a:solidFill>
              <a:latin typeface="Cambria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1737360" y="3172968"/>
            <a:ext cx="0" cy="320040"/>
          </a:xfrm>
          <a:prstGeom prst="line">
            <a:avLst/>
          </a:prstGeom>
          <a:ln w="1651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4320" y="3520439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000000"/>
                </a:solidFill>
                <a:latin typeface="Courier New" panose="02070409020205090404"/>
              </a:rPr>
              <a:t>Share</a:t>
            </a:r>
            <a:r>
              <a:rPr sz="1150" b="1" i="0">
                <a:solidFill>
                  <a:srgbClr val="2E6F9E"/>
                </a:solidFill>
                <a:latin typeface="Courier New" panose="02070409020205090404"/>
              </a:rPr>
              <a:t>_compute</a:t>
            </a:r>
            <a:endParaRPr sz="1150" b="1" i="0">
              <a:solidFill>
                <a:srgbClr val="2E6F9E"/>
              </a:solidFill>
              <a:latin typeface="Courier New" panose="02070409020205090404"/>
            </a:endParaRPr>
          </a:p>
          <a:p>
            <a:pPr algn="ctr"/>
            <a:r>
              <a:rPr sz="950" b="0" i="1">
                <a:solidFill>
                  <a:srgbClr val="4A4A4A"/>
                </a:solidFill>
                <a:latin typeface="Cambria"/>
              </a:rPr>
              <a:t>P-tokens this request costs c</a:t>
            </a:r>
            <a:endParaRPr sz="950" b="0" i="1">
              <a:solidFill>
                <a:srgbClr val="4A4A4A"/>
              </a:solidFill>
              <a:latin typeface="Cambria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7178040" y="3172968"/>
            <a:ext cx="0" cy="320040"/>
          </a:xfrm>
          <a:prstGeom prst="line">
            <a:avLst/>
          </a:prstGeom>
          <a:ln w="1651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23560" y="3520439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000000"/>
                </a:solidFill>
                <a:latin typeface="Courier New" panose="02070409020205090404"/>
              </a:rPr>
              <a:t>Share</a:t>
            </a:r>
            <a:r>
              <a:rPr sz="1150" b="1" i="0">
                <a:solidFill>
                  <a:srgbClr val="6E4E86"/>
                </a:solidFill>
                <a:latin typeface="Courier New" panose="02070409020205090404"/>
              </a:rPr>
              <a:t>_load</a:t>
            </a:r>
            <a:endParaRPr sz="1150" b="1" i="0">
              <a:solidFill>
                <a:srgbClr val="6E4E86"/>
              </a:solidFill>
              <a:latin typeface="Courier New" panose="02070409020205090404"/>
            </a:endParaRPr>
          </a:p>
          <a:p>
            <a:pPr algn="ctr"/>
            <a:r>
              <a:rPr sz="950" b="0" i="1">
                <a:solidFill>
                  <a:srgbClr val="4A4A4A"/>
                </a:solidFill>
                <a:latin typeface="Cambria"/>
              </a:rPr>
              <a:t>in-flight count after dispatch</a:t>
            </a:r>
            <a:endParaRPr sz="950" b="0" i="1">
              <a:solidFill>
                <a:srgbClr val="4A4A4A"/>
              </a:solidFill>
              <a:latin typeface="Cambri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3950207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Courier New" panose="02070409020205090404"/>
              </a:rPr>
              <a:t>Share</a:t>
            </a:r>
            <a:r>
              <a:rPr sz="1150" b="1" i="0">
                <a:solidFill>
                  <a:srgbClr val="A85A28"/>
                </a:solidFill>
                <a:latin typeface="Courier New" panose="02070409020205090404"/>
              </a:rPr>
              <a:t>_power</a:t>
            </a:r>
            <a:r>
              <a:rPr sz="950" b="0" i="1">
                <a:solidFill>
                  <a:srgbClr val="4A4A4A"/>
                </a:solidFill>
                <a:latin typeface="Cambria"/>
              </a:rPr>
              <a:t>   — read continuously off the replica's own power draw, not attributable to one request</a:t>
            </a:r>
            <a:endParaRPr sz="950" b="0" i="1">
              <a:solidFill>
                <a:srgbClr val="4A4A4A"/>
              </a:solidFill>
              <a:latin typeface="Cambria"/>
            </a:endParaRPr>
          </a:p>
        </p:txBody>
      </p:sp>
      <p:cxnSp>
        <p:nvCxnSpPr>
          <p:cNvPr id="40" name="Connector 39"/>
          <p:cNvCxnSpPr/>
          <p:nvPr/>
        </p:nvCxnSpPr>
        <p:spPr>
          <a:xfrm flipV="1">
            <a:off x="548640" y="4684176"/>
            <a:ext cx="453389" cy="43271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02029" y="4645455"/>
            <a:ext cx="453391" cy="38721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55420" y="4610806"/>
            <a:ext cx="453390" cy="34649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908810" y="4579800"/>
            <a:ext cx="453390" cy="31006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362200" y="4552056"/>
            <a:ext cx="453390" cy="27744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815590" y="4527228"/>
            <a:ext cx="453390" cy="24828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268980" y="4505012"/>
            <a:ext cx="453389" cy="22216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722369" y="4485132"/>
            <a:ext cx="453391" cy="19880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75760" y="4467343"/>
            <a:ext cx="453390" cy="17789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629150" y="4451424"/>
            <a:ext cx="453390" cy="15919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82540" y="4437179"/>
            <a:ext cx="453390" cy="14245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535930" y="4424432"/>
            <a:ext cx="453390" cy="12747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989320" y="4413026"/>
            <a:ext cx="453390" cy="11406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42710" y="4402819"/>
            <a:ext cx="453389" cy="10207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896099" y="4393686"/>
            <a:ext cx="453391" cy="9133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349490" y="4385513"/>
            <a:ext cx="453390" cy="8173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802880" y="4378200"/>
            <a:ext cx="453390" cy="7313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256270" y="4371655"/>
            <a:ext cx="453390" cy="6545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709660" y="4365799"/>
            <a:ext cx="453390" cy="5856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163050" y="4360559"/>
            <a:ext cx="453390" cy="5240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616440" y="4355870"/>
            <a:ext cx="453390" cy="4689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069830" y="4351673"/>
            <a:ext cx="453390" cy="4197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523220" y="4347919"/>
            <a:ext cx="453390" cy="3754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976610" y="4344559"/>
            <a:ext cx="453390" cy="3360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548640" y="4224527"/>
            <a:ext cx="10881360" cy="566928"/>
          </a:xfrm>
          <a:prstGeom prst="rect">
            <a:avLst/>
          </a:prstGeom>
          <a:noFill/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mbria"/>
              </a:rPr>
              <a:t>Figure 3.  </a:t>
            </a:r>
            <a:r>
              <a:rPr sz="1200" b="0" i="1">
                <a:solidFill>
                  <a:srgbClr val="000000"/>
                </a:solidFill>
                <a:latin typeface="Cambria"/>
              </a:rPr>
              <a:t>Where each resource share is read from a single request's lifecycle. Compute and load are one-step projections tied to specific phases; power is a live state read off the replica's whole trajectory.</a:t>
            </a:r>
            <a:endParaRPr sz="1200" b="0" i="1">
              <a:solidFill>
                <a:srgbClr val="000000"/>
              </a:solidFill>
              <a:latin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532130" y="1920240"/>
            <a:ext cx="930910" cy="5143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2130" y="2068195"/>
            <a:ext cx="930910" cy="20129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50" b="0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R</a:t>
            </a:r>
            <a:r>
              <a:rPr sz="1150" b="0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equest</a:t>
            </a:r>
            <a:endParaRPr sz="1150" b="0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463040" y="2185797"/>
            <a:ext cx="502920" cy="0"/>
          </a:xfrm>
          <a:prstGeom prst="line">
            <a:avLst/>
          </a:prstGeom>
          <a:ln w="1397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65960" y="868680"/>
            <a:ext cx="3392170" cy="2473325"/>
          </a:xfrm>
          <a:prstGeom prst="roundRect">
            <a:avLst>
              <a:gd name="adj" fmla="val 3000"/>
            </a:avLst>
          </a:prstGeom>
          <a:noFill/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48840" y="96012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device state</a:t>
            </a:r>
            <a:endParaRPr sz="1150" b="1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94560" y="13716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queued</a:t>
            </a:r>
            <a:endParaRPr sz="1050" b="0" i="0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  <a:p>
            <a:pPr algn="l"/>
            <a:r>
              <a:rPr sz="105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(Q-BS)</a:t>
            </a:r>
            <a:endParaRPr sz="1050" b="0" i="1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146304" cy="201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146304" cy="201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749040" y="1371600"/>
            <a:ext cx="146304" cy="201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931920" y="1371600"/>
            <a:ext cx="146304" cy="201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14800" y="1371600"/>
            <a:ext cx="146304" cy="201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94560" y="1874519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running</a:t>
            </a:r>
            <a:endParaRPr sz="1050" b="0" i="0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  <a:p>
            <a:pPr algn="l"/>
            <a:r>
              <a:rPr sz="105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(R-BS)</a:t>
            </a:r>
            <a:endParaRPr sz="1050" b="0" i="1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83280" y="1874519"/>
            <a:ext cx="146304" cy="201168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566160" y="1874519"/>
            <a:ext cx="146304" cy="201168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749040" y="1874519"/>
            <a:ext cx="146304" cy="201168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931920" y="1874519"/>
            <a:ext cx="146304" cy="201168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14800" y="1874519"/>
            <a:ext cx="146304" cy="201168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97680" y="1874519"/>
            <a:ext cx="146304" cy="201168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480560" y="1874519"/>
            <a:ext cx="146304" cy="201168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63440" y="1874519"/>
            <a:ext cx="146304" cy="201168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383280" y="2185415"/>
            <a:ext cx="1463040" cy="0"/>
          </a:xfrm>
          <a:prstGeom prst="line">
            <a:avLst/>
          </a:prstGeom>
          <a:ln w="1905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83280" y="2203703"/>
            <a:ext cx="274320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E4E86"/>
                </a:solidFill>
                <a:latin typeface="Arial Regular" panose="020B0604020202090204" charset="0"/>
                <a:cs typeface="Arial Regular" panose="020B0604020202090204" charset="0"/>
              </a:rPr>
              <a:t>in_flight_after</a:t>
            </a:r>
            <a:endParaRPr sz="950" b="0" i="0">
              <a:solidFill>
                <a:srgbClr val="6E4E86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94560" y="25603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device memory</a:t>
            </a:r>
            <a:endParaRPr sz="1050" b="0" i="0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  <a:p>
            <a:pPr algn="l"/>
            <a:r>
              <a:rPr sz="105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(KV cache)</a:t>
            </a:r>
            <a:endParaRPr sz="1050" b="0" i="1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383280" y="2560320"/>
            <a:ext cx="219456" cy="274320"/>
          </a:xfrm>
          <a:prstGeom prst="rect">
            <a:avLst/>
          </a:prstGeom>
          <a:solidFill>
            <a:srgbClr val="E6E6E6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0" y="2560320"/>
            <a:ext cx="219456" cy="274320"/>
          </a:xfrm>
          <a:prstGeom prst="rect">
            <a:avLst/>
          </a:prstGeom>
          <a:solidFill>
            <a:srgbClr val="E6E6E6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931920" y="2560320"/>
            <a:ext cx="219456" cy="274320"/>
          </a:xfrm>
          <a:prstGeom prst="rect">
            <a:avLst/>
          </a:prstGeom>
          <a:solidFill>
            <a:srgbClr val="E6E6E6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206240" y="2560320"/>
            <a:ext cx="219456" cy="274320"/>
          </a:xfrm>
          <a:prstGeom prst="rect">
            <a:avLst/>
          </a:prstGeom>
          <a:solidFill>
            <a:srgbClr val="E6E6E6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480560" y="2560320"/>
            <a:ext cx="219456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754880" y="2560320"/>
            <a:ext cx="219456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3383280" y="2889503"/>
            <a:ext cx="1042416" cy="0"/>
          </a:xfrm>
          <a:prstGeom prst="line">
            <a:avLst/>
          </a:prstGeom>
          <a:ln w="1905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383280" y="2907791"/>
            <a:ext cx="310896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2E6F9E"/>
                </a:solidFill>
                <a:latin typeface="Arial Regular" panose="020B0604020202090204" charset="0"/>
                <a:cs typeface="Arial Regular" panose="020B0604020202090204" charset="0"/>
              </a:rPr>
              <a:t>#new prefill tokens</a:t>
            </a:r>
            <a:endParaRPr sz="950" b="0" i="0">
              <a:solidFill>
                <a:srgbClr val="2E6F9E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645275" y="868679"/>
            <a:ext cx="1417320" cy="1417320"/>
          </a:xfrm>
          <a:prstGeom prst="roundRect">
            <a:avLst>
              <a:gd name="adj" fmla="val 6000"/>
            </a:avLst>
          </a:prstGeom>
          <a:noFill/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45275" y="9418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NVML</a:t>
            </a:r>
            <a:endParaRPr sz="1000" b="1" i="0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cxnSp>
        <p:nvCxnSpPr>
          <p:cNvPr id="36" name="Connector 35"/>
          <p:cNvCxnSpPr/>
          <p:nvPr/>
        </p:nvCxnSpPr>
        <p:spPr>
          <a:xfrm flipV="1">
            <a:off x="6782435" y="1931060"/>
            <a:ext cx="71437" cy="126340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853872" y="1824116"/>
            <a:ext cx="71438" cy="106944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925310" y="1733590"/>
            <a:ext cx="71437" cy="90526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996747" y="1656961"/>
            <a:ext cx="71438" cy="76629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068185" y="1592096"/>
            <a:ext cx="71437" cy="64865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139622" y="1537190"/>
            <a:ext cx="71438" cy="54906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211060" y="1490712"/>
            <a:ext cx="71437" cy="46478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282497" y="1451369"/>
            <a:ext cx="71438" cy="39343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353935" y="1418067"/>
            <a:ext cx="71437" cy="33302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425372" y="1389877"/>
            <a:ext cx="71438" cy="28190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496810" y="1366014"/>
            <a:ext cx="71437" cy="23863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568247" y="1345815"/>
            <a:ext cx="71438" cy="20199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639685" y="1328717"/>
            <a:ext cx="71437" cy="17098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711122" y="1314244"/>
            <a:ext cx="71438" cy="14473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782560" y="1301992"/>
            <a:ext cx="71437" cy="12252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853997" y="1291622"/>
            <a:ext cx="71438" cy="10370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463662" y="2331720"/>
            <a:ext cx="13716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A4A4A"/>
                </a:solidFill>
                <a:latin typeface="Arial Regular" panose="020B0604020202090204" charset="0"/>
                <a:cs typeface="Arial Regular" panose="020B0604020202090204" charset="0"/>
              </a:rPr>
              <a:t>live power draw</a:t>
            </a:r>
            <a:endParaRPr sz="900" b="0" i="1">
              <a:solidFill>
                <a:srgbClr val="4A4A4A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791969" y="3918585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2E6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828799" y="3918585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2E6F9E"/>
                </a:solidFill>
                <a:latin typeface="Arial Regular" panose="020B0604020202090204" charset="0"/>
                <a:cs typeface="Arial Regular" panose="020B0604020202090204" charset="0"/>
              </a:rPr>
              <a:t>Share_compute(c)</a:t>
            </a:r>
            <a:endParaRPr sz="1150" b="1" i="0">
              <a:solidFill>
                <a:srgbClr val="2E6F9E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251960" y="3918585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6E4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206240" y="3917315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6E4E86"/>
                </a:solidFill>
                <a:latin typeface="Arial Regular" panose="020B0604020202090204" charset="0"/>
                <a:cs typeface="Arial Regular" panose="020B0604020202090204" charset="0"/>
              </a:rPr>
              <a:t>Share_load(c)</a:t>
            </a:r>
            <a:endParaRPr sz="1150" b="1" i="0">
              <a:solidFill>
                <a:srgbClr val="6E4E86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6393814" y="393192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A8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393814" y="39319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A85A28"/>
                </a:solidFill>
                <a:latin typeface="Arial Regular" panose="020B0604020202090204" charset="0"/>
                <a:cs typeface="Arial Regular" panose="020B0604020202090204" charset="0"/>
              </a:rPr>
              <a:t>Share_power(c)</a:t>
            </a:r>
            <a:endParaRPr sz="1150" b="1" i="0">
              <a:solidFill>
                <a:srgbClr val="A85A28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cxnSp>
        <p:nvCxnSpPr>
          <p:cNvPr id="59" name="Connector 58"/>
          <p:cNvCxnSpPr/>
          <p:nvPr/>
        </p:nvCxnSpPr>
        <p:spPr>
          <a:xfrm>
            <a:off x="4425696" y="3097530"/>
            <a:ext cx="0" cy="455295"/>
          </a:xfrm>
          <a:prstGeom prst="line">
            <a:avLst/>
          </a:prstGeom>
          <a:ln w="1397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2788920" y="3552824"/>
            <a:ext cx="1636776" cy="0"/>
          </a:xfrm>
          <a:prstGeom prst="line">
            <a:avLst/>
          </a:prstGeom>
          <a:ln w="1397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788920" y="3552824"/>
            <a:ext cx="0" cy="365761"/>
          </a:xfrm>
          <a:prstGeom prst="line">
            <a:avLst/>
          </a:prstGeom>
          <a:ln w="13970">
            <a:solidFill>
              <a:srgbClr val="2E6F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846320" y="2275840"/>
            <a:ext cx="0" cy="1275715"/>
          </a:xfrm>
          <a:prstGeom prst="line">
            <a:avLst/>
          </a:prstGeom>
          <a:ln w="1397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846320" y="3552824"/>
            <a:ext cx="365760" cy="0"/>
          </a:xfrm>
          <a:prstGeom prst="line">
            <a:avLst/>
          </a:prstGeom>
          <a:ln w="1397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212080" y="3551554"/>
            <a:ext cx="0" cy="365761"/>
          </a:xfrm>
          <a:prstGeom prst="line">
            <a:avLst/>
          </a:prstGeom>
          <a:ln w="13970">
            <a:solidFill>
              <a:srgbClr val="6E4E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353935" y="2294255"/>
            <a:ext cx="0" cy="1637665"/>
          </a:xfrm>
          <a:prstGeom prst="line">
            <a:avLst/>
          </a:prstGeom>
          <a:ln w="13970">
            <a:solidFill>
              <a:srgbClr val="A85A2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Figure 4.  </a:t>
            </a:r>
            <a:r>
              <a:rPr sz="1200" b="0" i="1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rPr>
              <a:t>System view of a candidate replica and the indicators the router reads from it: queue and memory state give the per-request compute and load projections; the NVML power sensor gives a continuous, live power read.</a:t>
            </a:r>
            <a:endParaRPr sz="1200" b="0" i="1">
              <a:solidFill>
                <a:srgbClr val="000000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mbria"/>
              </a:rPr>
              <a:t>(a)</a:t>
            </a:r>
            <a:endParaRPr sz="1300" b="1" i="0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548640" cy="3730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2416" y="1150315"/>
            <a:ext cx="109728" cy="7680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" y="1227124"/>
            <a:ext cx="32918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86000" y="731519"/>
            <a:ext cx="3657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350008" y="859536"/>
            <a:ext cx="237744" cy="0"/>
          </a:xfrm>
          <a:prstGeom prst="line">
            <a:avLst/>
          </a:prstGeom>
          <a:ln w="12700">
            <a:solidFill>
              <a:srgbClr val="B5B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50008" y="950976"/>
            <a:ext cx="237744" cy="0"/>
          </a:xfrm>
          <a:prstGeom prst="line">
            <a:avLst/>
          </a:prstGeom>
          <a:ln w="12700">
            <a:solidFill>
              <a:srgbClr val="B5B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50008" y="1042415"/>
            <a:ext cx="237744" cy="0"/>
          </a:xfrm>
          <a:prstGeom prst="line">
            <a:avLst/>
          </a:prstGeom>
          <a:ln w="12700">
            <a:solidFill>
              <a:srgbClr val="B5B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508760" y="960120"/>
            <a:ext cx="777240" cy="0"/>
          </a:xfrm>
          <a:prstGeom prst="line">
            <a:avLst/>
          </a:prstGeom>
          <a:ln w="1397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563624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Cambria"/>
              </a:rPr>
              <a:t>router</a:t>
            </a:r>
            <a:endParaRPr sz="1100" b="0" i="0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11680" y="1280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Cambria"/>
              </a:rPr>
              <a:t>request</a:t>
            </a:r>
            <a:endParaRPr sz="1100" b="0" i="0">
              <a:solidFill>
                <a:srgbClr val="000000"/>
              </a:solidFill>
              <a:latin typeface="Cambria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097280" y="1856231"/>
            <a:ext cx="1600200" cy="292609"/>
          </a:xfrm>
          <a:prstGeom prst="line">
            <a:avLst/>
          </a:prstGeom>
          <a:ln w="12700">
            <a:solidFill>
              <a:srgbClr val="B5B5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" y="1856231"/>
            <a:ext cx="3246120" cy="292609"/>
          </a:xfrm>
          <a:prstGeom prst="line">
            <a:avLst/>
          </a:prstGeom>
          <a:ln w="12700">
            <a:solidFill>
              <a:srgbClr val="B5B5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" y="1856231"/>
            <a:ext cx="4892040" cy="292609"/>
          </a:xfrm>
          <a:prstGeom prst="line">
            <a:avLst/>
          </a:prstGeom>
          <a:ln w="12700">
            <a:solidFill>
              <a:srgbClr val="B5B5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97280" y="1856231"/>
            <a:ext cx="6537960" cy="292609"/>
          </a:xfrm>
          <a:prstGeom prst="line">
            <a:avLst/>
          </a:prstGeom>
          <a:ln w="12700">
            <a:solidFill>
              <a:srgbClr val="B5B5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377440" y="2194560"/>
            <a:ext cx="685800" cy="78866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73452" y="2290572"/>
            <a:ext cx="397763" cy="10972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6080" y="2290572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73452" y="2496312"/>
            <a:ext cx="397763" cy="10972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6080" y="2496312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73452" y="2702052"/>
            <a:ext cx="397763" cy="10972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6080" y="2702052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23360" y="2194560"/>
            <a:ext cx="685800" cy="78866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9372" y="2290572"/>
            <a:ext cx="397763" cy="10972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0" y="2290572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19372" y="2496312"/>
            <a:ext cx="397763" cy="10972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2496312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19372" y="2702052"/>
            <a:ext cx="397763" cy="10972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2000" y="2702052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0" y="2194560"/>
            <a:ext cx="685800" cy="78866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65292" y="2290572"/>
            <a:ext cx="397763" cy="10972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17920" y="2290572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765292" y="2496312"/>
            <a:ext cx="397763" cy="10972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217920" y="2496312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765292" y="2702052"/>
            <a:ext cx="397763" cy="10972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17920" y="2702052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0" y="2194560"/>
            <a:ext cx="685800" cy="78866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11212" y="2290572"/>
            <a:ext cx="397763" cy="10972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63840" y="2290572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11212" y="2496312"/>
            <a:ext cx="397763" cy="10972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863840" y="2496312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11212" y="2702052"/>
            <a:ext cx="397763" cy="10972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863840" y="2702052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0" y="3063239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4A4A4A"/>
                </a:solidFill>
                <a:latin typeface="Cambria"/>
              </a:rPr>
              <a:t>candidate replicas   (state detail: slide 4)</a:t>
            </a:r>
            <a:endParaRPr sz="1100" b="0" i="1">
              <a:solidFill>
                <a:srgbClr val="4A4A4A"/>
              </a:solidFill>
              <a:latin typeface="Cambri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869680" y="777240"/>
            <a:ext cx="26517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4A4A4A"/>
                </a:solidFill>
                <a:latin typeface="Cambria"/>
              </a:rPr>
              <a:t>every </a:t>
            </a:r>
            <a:r>
              <a:rPr sz="1150" b="1" i="0">
                <a:solidFill>
                  <a:srgbClr val="000000"/>
                </a:solidFill>
                <a:latin typeface="Courier New" panose="02070409020205090404"/>
              </a:rPr>
              <a:t>500 ms</a:t>
            </a:r>
            <a:r>
              <a:rPr sz="1150" b="0" i="1">
                <a:solidFill>
                  <a:srgbClr val="4A4A4A"/>
                </a:solidFill>
                <a:latin typeface="Cambria"/>
              </a:rPr>
              <a:t>, the router scores every candidate and dispatches to the one with the smallest T(c)</a:t>
            </a:r>
            <a:endParaRPr sz="1150" b="0" i="1">
              <a:solidFill>
                <a:srgbClr val="4A4A4A"/>
              </a:solidFill>
              <a:latin typeface="Cambri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8640" y="32461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mbria"/>
              </a:rPr>
              <a:t>(b)</a:t>
            </a:r>
            <a:endParaRPr sz="1300" b="1" i="0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48640" y="3703320"/>
            <a:ext cx="175869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03503" y="3776472"/>
            <a:ext cx="0" cy="265176"/>
          </a:xfrm>
          <a:prstGeom prst="line">
            <a:avLst/>
          </a:prstGeom>
          <a:ln w="2540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94944" y="3776472"/>
            <a:ext cx="0" cy="265176"/>
          </a:xfrm>
          <a:prstGeom prst="line">
            <a:avLst/>
          </a:prstGeom>
          <a:ln w="2540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8640" y="4142231"/>
            <a:ext cx="1813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ourier New" panose="02070409020205090404"/>
              </a:rPr>
              <a:t>t</a:t>
            </a:r>
            <a:endParaRPr sz="900" b="0" i="0">
              <a:solidFill>
                <a:srgbClr val="4A4A4A"/>
              </a:solidFill>
              <a:latin typeface="Courier New" panose="020704090202050904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362200" y="3703320"/>
            <a:ext cx="175869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2417064" y="3776472"/>
            <a:ext cx="0" cy="265176"/>
          </a:xfrm>
          <a:prstGeom prst="line">
            <a:avLst/>
          </a:prstGeom>
          <a:ln w="2540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508504" y="3776472"/>
            <a:ext cx="0" cy="265176"/>
          </a:xfrm>
          <a:prstGeom prst="line">
            <a:avLst/>
          </a:prstGeom>
          <a:ln w="2540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362200" y="4142231"/>
            <a:ext cx="1813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ourier New" panose="02070409020205090404"/>
              </a:rPr>
              <a:t>t+1</a:t>
            </a:r>
            <a:endParaRPr sz="900" b="0" i="0">
              <a:solidFill>
                <a:srgbClr val="4A4A4A"/>
              </a:solidFill>
              <a:latin typeface="Courier New" panose="020704090202050904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175760" y="3703320"/>
            <a:ext cx="175869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230623" y="3776472"/>
            <a:ext cx="0" cy="265176"/>
          </a:xfrm>
          <a:prstGeom prst="line">
            <a:avLst/>
          </a:prstGeom>
          <a:ln w="2540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22064" y="3776472"/>
            <a:ext cx="0" cy="265176"/>
          </a:xfrm>
          <a:prstGeom prst="line">
            <a:avLst/>
          </a:prstGeom>
          <a:ln w="2540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175760" y="4142231"/>
            <a:ext cx="1813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ourier New" panose="02070409020205090404"/>
              </a:rPr>
              <a:t>t+2</a:t>
            </a:r>
            <a:endParaRPr sz="900" b="0" i="0">
              <a:solidFill>
                <a:srgbClr val="4A4A4A"/>
              </a:solidFill>
              <a:latin typeface="Courier New" panose="020704090202050904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989320" y="3703320"/>
            <a:ext cx="175869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6044183" y="3776472"/>
            <a:ext cx="0" cy="265176"/>
          </a:xfrm>
          <a:prstGeom prst="line">
            <a:avLst/>
          </a:prstGeom>
          <a:ln w="2540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135624" y="3776472"/>
            <a:ext cx="0" cy="265176"/>
          </a:xfrm>
          <a:prstGeom prst="line">
            <a:avLst/>
          </a:prstGeom>
          <a:ln w="2540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989320" y="4142231"/>
            <a:ext cx="1813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ourier New" panose="02070409020205090404"/>
              </a:rPr>
              <a:t>t+3</a:t>
            </a:r>
            <a:endParaRPr sz="900" b="0" i="0">
              <a:solidFill>
                <a:srgbClr val="4A4A4A"/>
              </a:solidFill>
              <a:latin typeface="Courier New" panose="020704090202050904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802880" y="3703320"/>
            <a:ext cx="175869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7857744" y="3776472"/>
            <a:ext cx="0" cy="265176"/>
          </a:xfrm>
          <a:prstGeom prst="line">
            <a:avLst/>
          </a:prstGeom>
          <a:ln w="2540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949184" y="3776472"/>
            <a:ext cx="0" cy="265176"/>
          </a:xfrm>
          <a:prstGeom prst="line">
            <a:avLst/>
          </a:prstGeom>
          <a:ln w="2540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802880" y="4142231"/>
            <a:ext cx="1813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ourier New" panose="02070409020205090404"/>
              </a:rPr>
              <a:t>t+4</a:t>
            </a:r>
            <a:endParaRPr sz="900" b="0" i="0">
              <a:solidFill>
                <a:srgbClr val="4A4A4A"/>
              </a:solidFill>
              <a:latin typeface="Courier New" panose="020704090202050904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9616440" y="3703320"/>
            <a:ext cx="175869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9671304" y="3776472"/>
            <a:ext cx="0" cy="265176"/>
          </a:xfrm>
          <a:prstGeom prst="line">
            <a:avLst/>
          </a:prstGeom>
          <a:ln w="2540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762744" y="3776472"/>
            <a:ext cx="0" cy="265176"/>
          </a:xfrm>
          <a:prstGeom prst="line">
            <a:avLst/>
          </a:prstGeom>
          <a:ln w="2540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616440" y="4142231"/>
            <a:ext cx="1813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ourier New" panose="02070409020205090404"/>
              </a:rPr>
              <a:t>t+5</a:t>
            </a:r>
            <a:endParaRPr sz="900" b="0" i="0">
              <a:solidFill>
                <a:srgbClr val="4A4A4A"/>
              </a:solidFill>
              <a:latin typeface="Courier New" panose="020704090202050904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48640" y="342900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Cambria"/>
              </a:rPr>
              <a:t>compute, load</a:t>
            </a:r>
            <a:r>
              <a:rPr sz="950" b="0" i="1">
                <a:solidFill>
                  <a:srgbClr val="4A4A4A"/>
                </a:solidFill>
                <a:latin typeface="Cambria"/>
              </a:rPr>
              <a:t>  — resampled every decision</a:t>
            </a:r>
            <a:endParaRPr sz="950" b="0" i="1">
              <a:solidFill>
                <a:srgbClr val="4A4A4A"/>
              </a:solidFill>
              <a:latin typeface="Cambria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548640" y="4892040"/>
            <a:ext cx="10881360" cy="0"/>
          </a:xfrm>
          <a:prstGeom prst="line">
            <a:avLst/>
          </a:prstGeom>
          <a:ln w="12700">
            <a:solidFill>
              <a:srgbClr val="B5B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48640" y="4855572"/>
            <a:ext cx="181356" cy="36468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9996" y="4819751"/>
            <a:ext cx="181355" cy="35821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11351" y="4785214"/>
            <a:ext cx="181356" cy="34537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92707" y="4752573"/>
            <a:ext cx="181357" cy="32641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274064" y="4722408"/>
            <a:ext cx="181356" cy="30165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455420" y="4695254"/>
            <a:ext cx="181356" cy="27154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636776" y="4671594"/>
            <a:ext cx="181356" cy="23660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818132" y="4651846"/>
            <a:ext cx="181355" cy="19748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999487" y="4636363"/>
            <a:ext cx="181357" cy="15483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180844" y="4625417"/>
            <a:ext cx="181356" cy="10946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362200" y="4619205"/>
            <a:ext cx="181356" cy="6212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543556" y="4617836"/>
            <a:ext cx="181356" cy="1369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724912" y="4617836"/>
            <a:ext cx="181356" cy="3499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906268" y="4621335"/>
            <a:ext cx="181356" cy="8304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087624" y="4629639"/>
            <a:ext cx="181356" cy="12962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268980" y="4642601"/>
            <a:ext cx="181356" cy="17390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450336" y="4659991"/>
            <a:ext cx="181356" cy="21509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631692" y="4681500"/>
            <a:ext cx="181356" cy="25246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813048" y="4706746"/>
            <a:ext cx="181356" cy="28536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994404" y="4735282"/>
            <a:ext cx="181356" cy="31318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175760" y="4766600"/>
            <a:ext cx="181356" cy="33546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357116" y="4800146"/>
            <a:ext cx="181356" cy="35176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538472" y="4835322"/>
            <a:ext cx="181356" cy="36183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719828" y="4871505"/>
            <a:ext cx="181355" cy="4521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01183" y="4839763"/>
            <a:ext cx="181356" cy="36263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5082539" y="4804427"/>
            <a:ext cx="181356" cy="35336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263895" y="4770647"/>
            <a:ext cx="181357" cy="33780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445252" y="4739022"/>
            <a:ext cx="181356" cy="31625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626608" y="4710113"/>
            <a:ext cx="181356" cy="28909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807964" y="4684433"/>
            <a:ext cx="181356" cy="25680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989320" y="4662439"/>
            <a:ext cx="181356" cy="21994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170676" y="4644521"/>
            <a:ext cx="181356" cy="17918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352032" y="4630996"/>
            <a:ext cx="181356" cy="13525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533388" y="4622105"/>
            <a:ext cx="181356" cy="8891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714744" y="4618006"/>
            <a:ext cx="181355" cy="4099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896099" y="4618006"/>
            <a:ext cx="181356" cy="766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077455" y="4618772"/>
            <a:ext cx="181356" cy="5616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258811" y="4624388"/>
            <a:ext cx="181357" cy="10368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40168" y="4634756"/>
            <a:ext cx="181356" cy="14934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621524" y="4649690"/>
            <a:ext cx="181356" cy="19237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802880" y="4668927"/>
            <a:ext cx="181355" cy="23197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984235" y="4692124"/>
            <a:ext cx="181357" cy="26746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165592" y="4718870"/>
            <a:ext cx="181356" cy="29821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346948" y="4748691"/>
            <a:ext cx="181356" cy="32364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528304" y="4781055"/>
            <a:ext cx="181356" cy="34335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709660" y="4815390"/>
            <a:ext cx="181356" cy="35696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8891016" y="4851086"/>
            <a:ext cx="181356" cy="36422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072372" y="4860068"/>
            <a:ext cx="181356" cy="27440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253728" y="4824132"/>
            <a:ext cx="181356" cy="35936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435084" y="4789402"/>
            <a:ext cx="181356" cy="34730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616440" y="4756494"/>
            <a:ext cx="181356" cy="32908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797796" y="4725992"/>
            <a:ext cx="181355" cy="30502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979151" y="4698438"/>
            <a:ext cx="181357" cy="27554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0160508" y="4674321"/>
            <a:ext cx="181356" cy="24117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0341864" y="4654068"/>
            <a:ext cx="181356" cy="20253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0523220" y="4638039"/>
            <a:ext cx="181356" cy="16029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0704576" y="4626520"/>
            <a:ext cx="181356" cy="11519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0885932" y="4619714"/>
            <a:ext cx="181356" cy="6806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1067288" y="4617742"/>
            <a:ext cx="181356" cy="1972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1248644" y="4617742"/>
            <a:ext cx="181356" cy="2897"/>
          </a:xfrm>
          <a:prstGeom prst="line">
            <a:avLst/>
          </a:prstGeom>
          <a:ln w="2159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548640" y="4526280"/>
            <a:ext cx="0" cy="640080"/>
          </a:xfrm>
          <a:prstGeom prst="line">
            <a:avLst/>
          </a:prstGeom>
          <a:ln w="9525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362200" y="4526280"/>
            <a:ext cx="0" cy="640080"/>
          </a:xfrm>
          <a:prstGeom prst="line">
            <a:avLst/>
          </a:prstGeom>
          <a:ln w="9525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175760" y="4526280"/>
            <a:ext cx="0" cy="640080"/>
          </a:xfrm>
          <a:prstGeom prst="line">
            <a:avLst/>
          </a:prstGeom>
          <a:ln w="9525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5989320" y="4526280"/>
            <a:ext cx="0" cy="640080"/>
          </a:xfrm>
          <a:prstGeom prst="line">
            <a:avLst/>
          </a:prstGeom>
          <a:ln w="9525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802880" y="4526280"/>
            <a:ext cx="0" cy="640080"/>
          </a:xfrm>
          <a:prstGeom prst="line">
            <a:avLst/>
          </a:prstGeom>
          <a:ln w="9525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616440" y="4526280"/>
            <a:ext cx="0" cy="640080"/>
          </a:xfrm>
          <a:prstGeom prst="line">
            <a:avLst/>
          </a:prstGeom>
          <a:ln w="9525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1430000" y="4526280"/>
            <a:ext cx="0" cy="640080"/>
          </a:xfrm>
          <a:prstGeom prst="line">
            <a:avLst/>
          </a:prstGeom>
          <a:ln w="9525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548640" y="427939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A85A28"/>
                </a:solidFill>
                <a:latin typeface="Cambria"/>
              </a:rPr>
              <a:t>power</a:t>
            </a:r>
            <a:r>
              <a:rPr sz="950" b="0" i="1">
                <a:solidFill>
                  <a:srgbClr val="4A4A4A"/>
                </a:solidFill>
                <a:latin typeface="Cambria"/>
              </a:rPr>
              <a:t>  — continuous, read at whatever phase it's in</a:t>
            </a:r>
            <a:endParaRPr sz="950" b="0" i="1">
              <a:solidFill>
                <a:srgbClr val="4A4A4A"/>
              </a:solidFill>
              <a:latin typeface="Cambria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mbria"/>
              </a:rPr>
              <a:t>Figure 5.  </a:t>
            </a:r>
            <a:r>
              <a:rPr sz="1200" b="0" i="1">
                <a:solidFill>
                  <a:srgbClr val="000000"/>
                </a:solidFill>
                <a:latin typeface="Cambria"/>
              </a:rPr>
              <a:t>(a) The router dispatches each request to one of several candidate replicas. (b) Compute and load are resampled fresh at every 500 ms decision; power is a continuous trace the router reads mid-trajectory.</a:t>
            </a:r>
            <a:endParaRPr sz="1200" b="0" i="1">
              <a:solidFill>
                <a:srgbClr val="000000"/>
              </a:solidFill>
              <a:latin typeface="Cambri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2878</Words>
  <Application>WPS Sheets</Application>
  <PresentationFormat>宽屏</PresentationFormat>
  <Paragraphs>184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5" baseType="lpstr">
      <vt:lpstr>Arial</vt:lpstr>
      <vt:lpstr>SimSun</vt:lpstr>
      <vt:lpstr>Wingdings</vt:lpstr>
      <vt:lpstr>Wingdings</vt:lpstr>
      <vt:lpstr>Arial Regular</vt:lpstr>
      <vt:lpstr>Cambria</vt:lpstr>
      <vt:lpstr>Thonburi</vt:lpstr>
      <vt:lpstr>Courier New</vt:lpstr>
      <vt:lpstr>Microsoft YaHei</vt:lpstr>
      <vt:lpstr>方正雅意黑 GB18030L2</vt:lpstr>
      <vt:lpstr>苹方-简</vt:lpstr>
      <vt:lpstr>汉仪书宋二KW</vt:lpstr>
      <vt:lpstr>Arial Unicode MS</vt:lpstr>
      <vt:lpstr>Cambria</vt:lpstr>
      <vt:lpstr>Courier New</vt:lpstr>
      <vt:lpstr>Times New Roman Regular</vt:lpstr>
      <vt:lpstr>Times New Roman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黎米娅</cp:lastModifiedBy>
  <cp:revision>174</cp:revision>
  <dcterms:created xsi:type="dcterms:W3CDTF">2026-09-09T15:01:38Z</dcterms:created>
  <dcterms:modified xsi:type="dcterms:W3CDTF">2026-09-09T15:01:38Z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1033-12.1.26046.26046</vt:lpwstr>
  </property>
  <property fmtid="{D5CDD505-2E9C-101B-9397-08002B2CF9AE}" pid="3" name="ICV">
    <vt:lpwstr>E095752EF24601E12E349E6AA11C48C9_41</vt:lpwstr>
  </property>
</Properties>
</file>