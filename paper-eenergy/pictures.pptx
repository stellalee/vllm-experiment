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834639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000000"/>
                </a:solidFill>
                <a:latin typeface="Times New Roman"/>
              </a:rPr>
              <a:t>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721608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A4A4A"/>
                </a:solidFill>
                <a:latin typeface="Times New Roman"/>
              </a:rPr>
              <a:t>(one LLM each)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3246120"/>
            <a:ext cx="868680" cy="0"/>
          </a:xfrm>
          <a:prstGeom prst="line">
            <a:avLst/>
          </a:prstGeom>
          <a:ln w="1651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46120" y="2697479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3867911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A4A4A"/>
                </a:solidFill>
                <a:latin typeface="Times New Roman"/>
              </a:rPr>
              <a:t>picks a replica for each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891539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28455" y="1013155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01784" y="1013155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28455" y="1273759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01784" y="1273759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28455" y="1534363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01784" y="1534363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52243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replica 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007607" y="1394459"/>
            <a:ext cx="2926081" cy="1851661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6840" y="2125979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28455" y="2247595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01784" y="2247595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8455" y="2508199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1784" y="2508199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8455" y="2768803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01784" y="2768803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3186684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E7D4F"/>
                </a:solidFill>
                <a:latin typeface="Times New Roman"/>
              </a:rPr>
              <a:t>replica 2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07607" y="2628899"/>
            <a:ext cx="2926081" cy="617221"/>
          </a:xfrm>
          <a:prstGeom prst="line">
            <a:avLst/>
          </a:prstGeom>
          <a:ln w="21590">
            <a:solidFill>
              <a:srgbClr val="2E7D4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06840" y="3360420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8455" y="3482035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01784" y="3482035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28455" y="3742639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01784" y="3742639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28455" y="4003243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01784" y="4003243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4421123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replica 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07607" y="3246120"/>
            <a:ext cx="2926081" cy="617219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06840" y="4594860"/>
            <a:ext cx="868680" cy="9989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28455" y="4716475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01784" y="4716475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28455" y="4977079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01784" y="4977079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28455" y="5237683"/>
            <a:ext cx="503834" cy="138988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701784" y="5237683"/>
            <a:ext cx="104241" cy="104241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5655564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replica 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07607" y="3246120"/>
            <a:ext cx="2926081" cy="1851660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26679" y="708659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4A4A4A"/>
                </a:solidFill>
                <a:latin typeface="Times New Roman"/>
              </a:rPr>
              <a:t>replicas serving the same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1.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LLM request routing: an incoming stream of requests is dispatched, one request at a time, to one of several replicas serving the same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697480"/>
            <a:ext cx="12344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00000"/>
                </a:solidFill>
                <a:latin typeface="Times New Roman"/>
              </a:rPr>
              <a:t>request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737360" y="3063240"/>
            <a:ext cx="411480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148840" y="2560320"/>
            <a:ext cx="5486400" cy="1005840"/>
          </a:xfrm>
          <a:prstGeom prst="roundRect">
            <a:avLst>
              <a:gd name="adj" fmla="val 4000"/>
            </a:avLst>
          </a:prstGeom>
          <a:noFill/>
          <a:ln w="1460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68296" y="2651760"/>
            <a:ext cx="5047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</a:rPr>
              <a:t>router  </a:t>
            </a:r>
            <a:r>
              <a:rPr sz="1000" b="0" i="1">
                <a:solidFill>
                  <a:srgbClr val="4A4A4A"/>
                </a:solidFill>
                <a:latin typeface="Times New Roman"/>
              </a:rPr>
              <a:t>(∀ candidate 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8296" y="2944368"/>
            <a:ext cx="50474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s(c)=(compute,load,power),  D(c)=max s(c)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8296" y="3236976"/>
            <a:ext cx="50474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Courier New"/>
              </a:rPr>
              <a:t>dispatch → argmin</a:t>
            </a:r>
            <a:r>
              <a:rPr sz="850" b="1" i="0">
                <a:solidFill>
                  <a:srgbClr val="000000"/>
                </a:solidFill>
                <a:latin typeface="Courier New"/>
              </a:rPr>
              <a:t>c</a:t>
            </a:r>
            <a:r>
              <a:rPr sz="1150" b="1" i="0">
                <a:solidFill>
                  <a:srgbClr val="000000"/>
                </a:solidFill>
                <a:latin typeface="Courier New"/>
              </a:rPr>
              <a:t> T(c),  T=(D,power,load,compute)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417319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3416" y="148132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148132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4A4A4A"/>
                </a:solidFill>
                <a:latin typeface="Courier New"/>
              </a:rPr>
              <a:t>D=0.85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08008" y="1746503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08008" y="1746503"/>
            <a:ext cx="1624431" cy="9144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1705355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1888235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08008" y="1888235"/>
            <a:ext cx="764438" cy="91440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847087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08008" y="2029967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08008" y="2029967"/>
            <a:ext cx="668883" cy="9144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88819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653527" y="1874519"/>
            <a:ext cx="1216153" cy="1188721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15400" y="26060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E9F5EC"/>
          </a:solidFill>
          <a:ln w="1778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267004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D4F"/>
                </a:solidFill>
                <a:latin typeface="Times New Roman"/>
              </a:rPr>
              <a:t>c2*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67004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E7D4F"/>
                </a:solidFill>
                <a:latin typeface="Courier New"/>
              </a:rPr>
              <a:t>D=0.50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8008" y="2935224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08008" y="2935224"/>
            <a:ext cx="955547" cy="9144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2894076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8008" y="3076956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08008" y="3076956"/>
            <a:ext cx="859993" cy="91440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8552" y="3035808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8008" y="3218688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08008" y="3218688"/>
            <a:ext cx="764438" cy="9144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8552" y="3177540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53527" y="3063240"/>
            <a:ext cx="1216153" cy="0"/>
          </a:xfrm>
          <a:prstGeom prst="line">
            <a:avLst/>
          </a:prstGeom>
          <a:ln w="20320">
            <a:solidFill>
              <a:srgbClr val="2E7D4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15400" y="379476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3416" y="3858768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</a:rPr>
              <a:t>c3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858768"/>
            <a:ext cx="694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4A4A4A"/>
                </a:solidFill>
                <a:latin typeface="Courier New"/>
              </a:rPr>
              <a:t>D=0.90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4123944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8008" y="4123944"/>
            <a:ext cx="573328" cy="9144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88552" y="4082796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8008" y="4265676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08008" y="4265676"/>
            <a:ext cx="668883" cy="91440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4224528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08008" y="4407408"/>
            <a:ext cx="1911095" cy="914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08008" y="4407408"/>
            <a:ext cx="1719986" cy="9144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8552" y="4366260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53527" y="3063240"/>
            <a:ext cx="1216153" cy="1188720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02920" y="5001768"/>
            <a:ext cx="118872" cy="118872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9469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Times New Roman"/>
              </a:rPr>
              <a:t>compute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4480" y="5001768"/>
            <a:ext cx="118872" cy="118872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28216" y="49469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Times New Roman"/>
              </a:rPr>
              <a:t>load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39" y="5001768"/>
            <a:ext cx="118872" cy="118872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79775" y="49469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Times New Roman"/>
              </a:rPr>
              <a:t>power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675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2.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Dispatch rule: sorted, tie-broken lexicographic minimization over three per-candidate shares; c2* is selected (lowest D). Sorted-argmin is Pareto-non-dominated at every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4983" y="1261872"/>
            <a:ext cx="201168" cy="20116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44167" y="1197864"/>
            <a:ext cx="261914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ourier New"/>
              </a:rPr>
              <a:t>Share</a:t>
            </a:r>
            <a:r>
              <a:rPr sz="1700" b="1" i="0">
                <a:solidFill>
                  <a:srgbClr val="2E6F9E"/>
                </a:solidFill>
                <a:latin typeface="Courier New"/>
              </a:rPr>
              <a:t>_compute</a:t>
            </a:r>
            <a:r>
              <a:rPr sz="1700" b="1" i="0">
                <a:solidFill>
                  <a:srgbClr val="000000"/>
                </a:solidFill>
                <a:latin typeface="Courier New"/>
              </a:rPr>
              <a:t>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3" y="1737360"/>
            <a:ext cx="29483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  <a:latin typeface="Courier New"/>
              </a:rPr>
              <a:t>P-token(c) / token_budget(c)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3" y="2148840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A4A4A"/>
                </a:solidFill>
                <a:latin typeface="Times New Roman"/>
              </a:rPr>
              <a:t>new prefill tokens, cache-discounted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2743200"/>
            <a:ext cx="29483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6F9E"/>
                </a:solidFill>
                <a:latin typeface="Courier New"/>
              </a:rPr>
              <a:t>0.62  </a:t>
            </a:r>
            <a:r>
              <a:rPr sz="1000" b="0" i="1">
                <a:solidFill>
                  <a:srgbClr val="4A4A4A"/>
                </a:solidFill>
                <a:latin typeface="Times New Roman"/>
              </a:rP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3" y="3017520"/>
            <a:ext cx="2948330" cy="155448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4983" y="3017520"/>
            <a:ext cx="1827964" cy="155448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292498" y="1234440"/>
            <a:ext cx="0" cy="2514599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621682" y="1261872"/>
            <a:ext cx="201168" cy="201168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0866" y="1197864"/>
            <a:ext cx="261914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ourier New"/>
              </a:rPr>
              <a:t>Share</a:t>
            </a:r>
            <a:r>
              <a:rPr sz="1700" b="1" i="0">
                <a:solidFill>
                  <a:srgbClr val="6E4E86"/>
                </a:solidFill>
                <a:latin typeface="Courier New"/>
              </a:rPr>
              <a:t>_load</a:t>
            </a:r>
            <a:r>
              <a:rPr sz="1700" b="1" i="0">
                <a:solidFill>
                  <a:srgbClr val="000000"/>
                </a:solidFill>
                <a:latin typeface="Courier New"/>
              </a:rPr>
              <a:t>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1682" y="1737360"/>
            <a:ext cx="29483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  <a:latin typeface="Courier New"/>
              </a:rPr>
              <a:t>in_flight_after(c) / max_num_seqs(c)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1682" y="2148840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A4A4A"/>
                </a:solidFill>
                <a:latin typeface="Times New Roman"/>
              </a:rPr>
              <a:t>in-flight count after 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1682" y="2743200"/>
            <a:ext cx="29483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4E86"/>
                </a:solidFill>
                <a:latin typeface="Courier New"/>
              </a:rPr>
              <a:t>0.45  </a:t>
            </a:r>
            <a:r>
              <a:rPr sz="1000" b="0" i="1">
                <a:solidFill>
                  <a:srgbClr val="4A4A4A"/>
                </a:solidFill>
                <a:latin typeface="Times New Roman"/>
              </a:rPr>
              <a:t>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1682" y="3017520"/>
            <a:ext cx="2948330" cy="155448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21682" y="3017520"/>
            <a:ext cx="1326748" cy="155448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899196" y="1234440"/>
            <a:ext cx="0" cy="2514599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8380" y="1261872"/>
            <a:ext cx="201168" cy="201168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7564" y="1197864"/>
            <a:ext cx="261914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ourier New"/>
              </a:rPr>
              <a:t>Share</a:t>
            </a:r>
            <a:r>
              <a:rPr sz="1700" b="1" i="0">
                <a:solidFill>
                  <a:srgbClr val="A85A28"/>
                </a:solidFill>
                <a:latin typeface="Courier New"/>
              </a:rPr>
              <a:t>_power</a:t>
            </a:r>
            <a:r>
              <a:rPr sz="1700" b="1" i="0">
                <a:solidFill>
                  <a:srgbClr val="000000"/>
                </a:solidFill>
                <a:latin typeface="Courier New"/>
              </a:rPr>
              <a:t>(c)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8380" y="1737360"/>
            <a:ext cx="294833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000000"/>
                </a:solidFill>
                <a:latin typeface="Courier New"/>
              </a:rPr>
              <a:t>max(ramp_rate(c),0) / ramp_ceiling(c)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380" y="2148840"/>
            <a:ext cx="29483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A4A4A"/>
                </a:solidFill>
                <a:latin typeface="Times New Roman"/>
              </a:rPr>
              <a:t>live NVML read, clamped ≥0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380" y="2743200"/>
            <a:ext cx="29483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85A28"/>
                </a:solidFill>
                <a:latin typeface="Courier New"/>
              </a:rPr>
              <a:t>0.30  </a:t>
            </a:r>
            <a:r>
              <a:rPr sz="1000" b="0" i="1">
                <a:solidFill>
                  <a:srgbClr val="4A4A4A"/>
                </a:solidFill>
                <a:latin typeface="Times New Roman"/>
              </a:rPr>
              <a:t>example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8380" y="3017520"/>
            <a:ext cx="2948330" cy="155448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8380" y="3017520"/>
            <a:ext cx="884499" cy="155448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63040" y="4023359"/>
            <a:ext cx="9265615" cy="457200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023359"/>
            <a:ext cx="8899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Courier New"/>
              </a:rPr>
              <a:t>D(c) = max(compute, load, power)</a:t>
            </a:r>
            <a:r>
              <a:rPr sz="1100" b="0" i="1">
                <a:solidFill>
                  <a:srgbClr val="4A4A4A"/>
                </a:solidFill>
                <a:latin typeface="Times New Roman"/>
              </a:rPr>
              <a:t>   →  route to argmin</a:t>
            </a:r>
            <a:r>
              <a:rPr sz="850" b="0" i="1">
                <a:solidFill>
                  <a:srgbClr val="4A4A4A"/>
                </a:solidFill>
                <a:latin typeface="Times New Roman"/>
              </a:rPr>
              <a:t>c</a:t>
            </a:r>
            <a:r>
              <a:rPr sz="1100" b="0" i="1">
                <a:solidFill>
                  <a:srgbClr val="4A4A4A"/>
                </a:solidFill>
                <a:latin typeface="Times New Roman"/>
              </a:rPr>
              <a:t> D(c)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599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3.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Three per-candidate shares, each normalized so 1.0 = at capacity; compute and load are one-step projections, power is a continuously read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815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8992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44167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627631" y="886968"/>
            <a:ext cx="438912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39696" y="676656"/>
            <a:ext cx="530352" cy="360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51836" y="1037295"/>
            <a:ext cx="106070" cy="7424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245766" y="1111544"/>
            <a:ext cx="318211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98063" y="886968"/>
            <a:ext cx="411481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0984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31335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96511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1688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26864" y="731520"/>
            <a:ext cx="219456" cy="310896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5" y="13990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2" b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773936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prefill</a:t>
            </a:r>
          </a:p>
        </p:txBody>
      </p:sp>
      <p:sp>
        <p:nvSpPr>
          <p:cNvPr id="19" name="Oval 18"/>
          <p:cNvSpPr/>
          <p:nvPr/>
        </p:nvSpPr>
        <p:spPr>
          <a:xfrm>
            <a:off x="3474720" y="13990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2" b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1773936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decode (repeat)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97480"/>
            <a:ext cx="2377440" cy="438912"/>
          </a:xfrm>
          <a:prstGeom prst="rect">
            <a:avLst/>
          </a:prstGeom>
          <a:solidFill>
            <a:srgbClr val="E3B7A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12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564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16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868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520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172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824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47680" y="2697480"/>
            <a:ext cx="946912" cy="438912"/>
          </a:xfrm>
          <a:prstGeom prst="rect">
            <a:avLst/>
          </a:prstGeom>
          <a:solidFill>
            <a:srgbClr val="DCE3E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737360" y="3136392"/>
            <a:ext cx="0" cy="292608"/>
          </a:xfrm>
          <a:prstGeom prst="line">
            <a:avLst/>
          </a:prstGeom>
          <a:ln w="1651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69480" y="3136392"/>
            <a:ext cx="0" cy="292608"/>
          </a:xfrm>
          <a:prstGeom prst="line">
            <a:avLst/>
          </a:prstGeom>
          <a:ln w="1651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39" y="345643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Courier New"/>
              </a:rPr>
              <a:t>Share</a:t>
            </a:r>
            <a:r>
              <a:rPr sz="1150" b="1" i="0">
                <a:solidFill>
                  <a:srgbClr val="2E6F9E"/>
                </a:solidFill>
                <a:latin typeface="Courier New"/>
              </a:rPr>
              <a:t>_compute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45643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00000"/>
                </a:solidFill>
                <a:latin typeface="Courier New"/>
              </a:rPr>
              <a:t>Share</a:t>
            </a:r>
            <a:r>
              <a:rPr sz="1150" b="1" i="0">
                <a:solidFill>
                  <a:srgbClr val="6E4E86"/>
                </a:solidFill>
                <a:latin typeface="Courier New"/>
              </a:rPr>
              <a:t>_load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023359"/>
            <a:ext cx="11064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Courier New"/>
              </a:rPr>
              <a:t>Share</a:t>
            </a:r>
            <a:r>
              <a:rPr sz="1150" b="1" i="0">
                <a:solidFill>
                  <a:srgbClr val="A85A28"/>
                </a:solidFill>
                <a:latin typeface="Courier New"/>
              </a:rPr>
              <a:t>_power</a:t>
            </a:r>
            <a:r>
              <a:rPr sz="1000" b="0" i="1">
                <a:solidFill>
                  <a:srgbClr val="4A4A4A"/>
                </a:solidFill>
                <a:latin typeface="Times New Roman"/>
              </a:rPr>
              <a:t>  (continuous)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48640" y="4747222"/>
            <a:ext cx="461009" cy="44234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9649" y="4707641"/>
            <a:ext cx="461011" cy="39581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70660" y="4672222"/>
            <a:ext cx="461009" cy="35419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931669" y="4640527"/>
            <a:ext cx="461011" cy="31695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92680" y="4612166"/>
            <a:ext cx="461010" cy="28361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53690" y="4586787"/>
            <a:ext cx="461010" cy="25379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14700" y="4564077"/>
            <a:ext cx="461010" cy="22710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775710" y="4543755"/>
            <a:ext cx="461010" cy="20322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236720" y="4525570"/>
            <a:ext cx="461009" cy="18185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97729" y="4509298"/>
            <a:ext cx="461010" cy="16272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158739" y="4494737"/>
            <a:ext cx="461011" cy="14561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619750" y="4481707"/>
            <a:ext cx="461009" cy="13030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080759" y="4470047"/>
            <a:ext cx="461010" cy="11660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541769" y="4459613"/>
            <a:ext cx="461011" cy="10434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002780" y="4450277"/>
            <a:ext cx="461010" cy="9336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463790" y="4441923"/>
            <a:ext cx="461009" cy="8354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924799" y="4434447"/>
            <a:ext cx="461010" cy="7476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385809" y="4427757"/>
            <a:ext cx="461010" cy="6690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846819" y="4421770"/>
            <a:ext cx="461010" cy="5987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307829" y="4416414"/>
            <a:ext cx="461010" cy="5356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768839" y="4411620"/>
            <a:ext cx="461011" cy="4794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229850" y="4407331"/>
            <a:ext cx="461010" cy="4289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690860" y="4403493"/>
            <a:ext cx="461010" cy="3838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151870" y="4400058"/>
            <a:ext cx="461010" cy="3435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48640" y="4279392"/>
            <a:ext cx="11064240" cy="594360"/>
          </a:xfrm>
          <a:prstGeom prst="rect">
            <a:avLst/>
          </a:prstGeom>
          <a:noFill/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14807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4.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Where each share is read from one request's lifecycle: compute/load are one-step projections tied to prefill/decode; power is a continuous trace over the replica's whole trajectory.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77724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request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737360" y="1005840"/>
            <a:ext cx="502920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83080" y="502920"/>
            <a:ext cx="5760720" cy="2148840"/>
          </a:xfrm>
          <a:prstGeom prst="roundRect">
            <a:avLst>
              <a:gd name="adj" fmla="val 3000"/>
            </a:avLst>
          </a:prstGeom>
          <a:noFill/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47672" y="576072"/>
            <a:ext cx="3200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device state (c)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886968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Times New Roman"/>
              </a:rPr>
              <a:t>queued</a:t>
            </a:r>
          </a:p>
          <a:p>
            <a:pPr algn="l"/>
            <a:r>
              <a:rPr sz="900" b="0" i="1">
                <a:solidFill>
                  <a:srgbClr val="4A4A4A"/>
                </a:solidFill>
                <a:latin typeface="Times New Roman"/>
              </a:rPr>
              <a:t>(Q-BS)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886968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77539" y="886968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886968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7579" y="886968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886968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307592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Times New Roman"/>
              </a:rPr>
              <a:t>running</a:t>
            </a:r>
          </a:p>
          <a:p>
            <a:pPr algn="l"/>
            <a:r>
              <a:rPr sz="900" b="0" i="1">
                <a:solidFill>
                  <a:srgbClr val="4A4A4A"/>
                </a:solidFill>
                <a:latin typeface="Times New Roman"/>
              </a:rPr>
              <a:t>(R-BS)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77539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7579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0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17620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39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37660" y="1307592"/>
            <a:ext cx="128016" cy="182880"/>
          </a:xfrm>
          <a:prstGeom prst="roundRect">
            <a:avLst>
              <a:gd name="adj" fmla="val 12000"/>
            </a:avLst>
          </a:prstGeom>
          <a:solidFill>
            <a:srgbClr val="E6E6E6"/>
          </a:solidFill>
          <a:ln w="1079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017520" y="1581912"/>
            <a:ext cx="1280159" cy="0"/>
          </a:xfrm>
          <a:prstGeom prst="line">
            <a:avLst/>
          </a:prstGeom>
          <a:ln w="1778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520" y="160020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E4E86"/>
                </a:solidFill>
                <a:latin typeface="Courier New"/>
              </a:rPr>
              <a:t>in_flight_after(c)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1856231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  <a:latin typeface="Times New Roman"/>
              </a:rPr>
              <a:t>KV 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56231"/>
            <a:ext cx="192024" cy="237744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55263" y="1856231"/>
            <a:ext cx="192024" cy="237744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93008" y="1856231"/>
            <a:ext cx="192024" cy="237744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30752" y="1856231"/>
            <a:ext cx="192024" cy="237744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68496" y="1856231"/>
            <a:ext cx="19202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1856231"/>
            <a:ext cx="19202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017520" y="2148839"/>
            <a:ext cx="905256" cy="0"/>
          </a:xfrm>
          <a:prstGeom prst="line">
            <a:avLst/>
          </a:prstGeom>
          <a:ln w="1778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017520" y="2167127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E6F9E"/>
                </a:solidFill>
                <a:latin typeface="Courier New"/>
              </a:rPr>
              <a:t>P-token(c)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36408" y="594360"/>
            <a:ext cx="1188720" cy="1188720"/>
          </a:xfrm>
          <a:prstGeom prst="roundRect">
            <a:avLst>
              <a:gd name="adj" fmla="val 6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6408" y="64922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Times New Roman"/>
              </a:rPr>
              <a:t>NVML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946136" y="1457597"/>
            <a:ext cx="69233" cy="124315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015369" y="1355817"/>
            <a:ext cx="69233" cy="101780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084602" y="1272487"/>
            <a:ext cx="69233" cy="83330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153835" y="1204261"/>
            <a:ext cx="69233" cy="68226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223068" y="1148403"/>
            <a:ext cx="69233" cy="55858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92301" y="1102670"/>
            <a:ext cx="69233" cy="45733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361534" y="1065228"/>
            <a:ext cx="69233" cy="37442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430767" y="1034572"/>
            <a:ext cx="69234" cy="30656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500001" y="1009473"/>
            <a:ext cx="69233" cy="25099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569234" y="988924"/>
            <a:ext cx="69233" cy="20549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638467" y="972100"/>
            <a:ext cx="69233" cy="16824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707700" y="958326"/>
            <a:ext cx="69233" cy="13774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776933" y="947048"/>
            <a:ext cx="69233" cy="11278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846166" y="937815"/>
            <a:ext cx="69234" cy="9233"/>
          </a:xfrm>
          <a:prstGeom prst="line">
            <a:avLst/>
          </a:prstGeom>
          <a:ln w="1905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691639" y="3200400"/>
            <a:ext cx="173736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E6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91639" y="32004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E6F9E"/>
                </a:solidFill>
                <a:latin typeface="Courier New"/>
              </a:rPr>
              <a:t>Share_compute(c)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0" y="3200400"/>
            <a:ext cx="173736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6E4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0" y="32004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E4E86"/>
                </a:solidFill>
                <a:latin typeface="Courier New"/>
              </a:rPr>
              <a:t>Share_load(c)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62088" y="3200400"/>
            <a:ext cx="173736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A8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2088" y="32004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5A28"/>
                </a:solidFill>
                <a:latin typeface="Courier New"/>
              </a:rPr>
              <a:t>Share_power(c)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922776" y="2404872"/>
            <a:ext cx="0" cy="502920"/>
          </a:xfrm>
          <a:prstGeom prst="line">
            <a:avLst/>
          </a:prstGeom>
          <a:ln w="13335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560320" y="2907792"/>
            <a:ext cx="1362456" cy="0"/>
          </a:xfrm>
          <a:prstGeom prst="line">
            <a:avLst/>
          </a:prstGeom>
          <a:ln w="13335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560320" y="2907792"/>
            <a:ext cx="0" cy="292608"/>
          </a:xfrm>
          <a:prstGeom prst="line">
            <a:avLst/>
          </a:prstGeom>
          <a:ln w="13335">
            <a:solidFill>
              <a:srgbClr val="2E6F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297679" y="1856231"/>
            <a:ext cx="0" cy="1051561"/>
          </a:xfrm>
          <a:prstGeom prst="line">
            <a:avLst/>
          </a:prstGeom>
          <a:ln w="13335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297679" y="2907792"/>
            <a:ext cx="502921" cy="0"/>
          </a:xfrm>
          <a:prstGeom prst="line">
            <a:avLst/>
          </a:prstGeom>
          <a:ln w="13335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800600" y="2907792"/>
            <a:ext cx="0" cy="292608"/>
          </a:xfrm>
          <a:prstGeom prst="line">
            <a:avLst/>
          </a:prstGeom>
          <a:ln w="13335">
            <a:solidFill>
              <a:srgbClr val="6E4E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430768" y="1783080"/>
            <a:ext cx="0" cy="1417320"/>
          </a:xfrm>
          <a:prstGeom prst="line">
            <a:avLst/>
          </a:prstGeom>
          <a:ln w="13335">
            <a:solidFill>
              <a:srgbClr val="A85A2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376732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5.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Indicators the router reads per candidate: queue/KV-cache state give compute and load; NVML gives a continuous power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(a)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594360"/>
            <a:ext cx="502920" cy="3419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8408" y="936345"/>
            <a:ext cx="100584" cy="704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77824" y="1006754"/>
            <a:ext cx="30175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48840" y="548640"/>
            <a:ext cx="329184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06447" y="663854"/>
            <a:ext cx="213969" cy="0"/>
          </a:xfrm>
          <a:prstGeom prst="line">
            <a:avLst/>
          </a:prstGeom>
          <a:ln w="1143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06447" y="746150"/>
            <a:ext cx="213969" cy="0"/>
          </a:xfrm>
          <a:prstGeom prst="line">
            <a:avLst/>
          </a:prstGeom>
          <a:ln w="1143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06447" y="828446"/>
            <a:ext cx="213969" cy="0"/>
          </a:xfrm>
          <a:prstGeom prst="line">
            <a:avLst/>
          </a:prstGeom>
          <a:ln w="1143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417319" y="758952"/>
            <a:ext cx="731521" cy="0"/>
          </a:xfrm>
          <a:prstGeom prst="line">
            <a:avLst/>
          </a:prstGeom>
          <a:ln w="1397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" y="117043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97840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Times New Roman"/>
              </a:rPr>
              <a:t>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1417320"/>
            <a:ext cx="1549908" cy="228600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8700" y="1417320"/>
            <a:ext cx="3104388" cy="228600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8700" y="1417320"/>
            <a:ext cx="4658868" cy="228600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8700" y="1417320"/>
            <a:ext cx="6213348" cy="228600"/>
          </a:xfrm>
          <a:prstGeom prst="line">
            <a:avLst/>
          </a:prstGeom>
          <a:ln w="12700">
            <a:solidFill>
              <a:srgbClr val="B5B5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86000" y="1691640"/>
            <a:ext cx="594360" cy="6835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69210" y="1774850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61488" y="1774850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69210" y="1953158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61488" y="1953158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69210" y="2131466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61488" y="2131466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40480" y="1691640"/>
            <a:ext cx="594360" cy="6835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23690" y="1774850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15968" y="1774850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23690" y="1953158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15968" y="1953158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23690" y="2131466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15968" y="2131466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94960" y="1691640"/>
            <a:ext cx="594360" cy="6835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78170" y="1774850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70448" y="1774850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78170" y="1953158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70448" y="1953158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78170" y="2131466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70448" y="2131466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49440" y="1691640"/>
            <a:ext cx="594360" cy="6835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032650" y="1774850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24927" y="1774850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032650" y="1953158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24927" y="1953158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32650" y="2131466"/>
            <a:ext cx="344728" cy="95097"/>
          </a:xfrm>
          <a:prstGeom prst="roundRect">
            <a:avLst>
              <a:gd name="adj" fmla="val 25000"/>
            </a:avLst>
          </a:prstGeom>
          <a:solidFill>
            <a:srgbClr val="E6E6E6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424927" y="2131466"/>
            <a:ext cx="71323" cy="71323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2468880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4A4A4A"/>
                </a:solidFill>
                <a:latin typeface="Times New Roman"/>
              </a:rPr>
              <a:t>candidates  (Fig. 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9436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4A4A4A"/>
                </a:solidFill>
                <a:latin typeface="Times New Roman"/>
              </a:rPr>
              <a:t>every </a:t>
            </a:r>
            <a:r>
              <a:rPr sz="1050" b="1" i="0">
                <a:solidFill>
                  <a:srgbClr val="000000"/>
                </a:solidFill>
                <a:latin typeface="Courier New"/>
              </a:rPr>
              <a:t>500 ms</a:t>
            </a:r>
            <a:r>
              <a:rPr sz="1050" b="0" i="1">
                <a:solidFill>
                  <a:srgbClr val="4A4A4A"/>
                </a:solidFill>
                <a:latin typeface="Times New Roman"/>
              </a:rPr>
              <a:t>: score all, dispatch to argmin T(c)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28803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(b)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246120"/>
            <a:ext cx="1789176" cy="365760"/>
          </a:xfrm>
          <a:prstGeom prst="rect">
            <a:avLst/>
          </a:prstGeom>
          <a:solidFill>
            <a:srgbClr val="FFFFFF"/>
          </a:solidFill>
          <a:ln w="120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03503" y="3310127"/>
            <a:ext cx="0" cy="237745"/>
          </a:xfrm>
          <a:prstGeom prst="line">
            <a:avLst/>
          </a:prstGeom>
          <a:ln w="2286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5800" y="3310127"/>
            <a:ext cx="0" cy="237745"/>
          </a:xfrm>
          <a:prstGeom prst="line">
            <a:avLst/>
          </a:prstGeom>
          <a:ln w="2286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3630168"/>
            <a:ext cx="1844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  <a:latin typeface="Courier New"/>
              </a:rPr>
              <a:t>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92680" y="3246120"/>
            <a:ext cx="1789176" cy="365760"/>
          </a:xfrm>
          <a:prstGeom prst="rect">
            <a:avLst/>
          </a:prstGeom>
          <a:solidFill>
            <a:srgbClr val="FFFFFF"/>
          </a:solidFill>
          <a:ln w="120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2447544" y="3310127"/>
            <a:ext cx="0" cy="237745"/>
          </a:xfrm>
          <a:prstGeom prst="line">
            <a:avLst/>
          </a:prstGeom>
          <a:ln w="2286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29840" y="3310127"/>
            <a:ext cx="0" cy="237745"/>
          </a:xfrm>
          <a:prstGeom prst="line">
            <a:avLst/>
          </a:prstGeom>
          <a:ln w="2286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392680" y="3630168"/>
            <a:ext cx="1844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  <a:latin typeface="Courier New"/>
              </a:rPr>
              <a:t>t+1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36720" y="3246120"/>
            <a:ext cx="1789176" cy="365760"/>
          </a:xfrm>
          <a:prstGeom prst="rect">
            <a:avLst/>
          </a:prstGeom>
          <a:solidFill>
            <a:srgbClr val="FFFFFF"/>
          </a:solidFill>
          <a:ln w="120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291583" y="3310127"/>
            <a:ext cx="0" cy="237745"/>
          </a:xfrm>
          <a:prstGeom prst="line">
            <a:avLst/>
          </a:prstGeom>
          <a:ln w="2286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73880" y="3310127"/>
            <a:ext cx="0" cy="237745"/>
          </a:xfrm>
          <a:prstGeom prst="line">
            <a:avLst/>
          </a:prstGeom>
          <a:ln w="2286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236720" y="3630168"/>
            <a:ext cx="1844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  <a:latin typeface="Courier New"/>
              </a:rPr>
              <a:t>t+2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59" y="3246120"/>
            <a:ext cx="1789176" cy="365760"/>
          </a:xfrm>
          <a:prstGeom prst="rect">
            <a:avLst/>
          </a:prstGeom>
          <a:solidFill>
            <a:srgbClr val="FFFFFF"/>
          </a:solidFill>
          <a:ln w="120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6135623" y="3310127"/>
            <a:ext cx="0" cy="237745"/>
          </a:xfrm>
          <a:prstGeom prst="line">
            <a:avLst/>
          </a:prstGeom>
          <a:ln w="2286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217920" y="3310127"/>
            <a:ext cx="0" cy="237745"/>
          </a:xfrm>
          <a:prstGeom prst="line">
            <a:avLst/>
          </a:prstGeom>
          <a:ln w="2286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80759" y="3630168"/>
            <a:ext cx="1844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  <a:latin typeface="Courier New"/>
              </a:rPr>
              <a:t>t+3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24799" y="3246120"/>
            <a:ext cx="1789176" cy="365760"/>
          </a:xfrm>
          <a:prstGeom prst="rect">
            <a:avLst/>
          </a:prstGeom>
          <a:solidFill>
            <a:srgbClr val="FFFFFF"/>
          </a:solidFill>
          <a:ln w="120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7979664" y="3310127"/>
            <a:ext cx="0" cy="237745"/>
          </a:xfrm>
          <a:prstGeom prst="line">
            <a:avLst/>
          </a:prstGeom>
          <a:ln w="2286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61960" y="3310127"/>
            <a:ext cx="0" cy="237745"/>
          </a:xfrm>
          <a:prstGeom prst="line">
            <a:avLst/>
          </a:prstGeom>
          <a:ln w="2286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924799" y="3630168"/>
            <a:ext cx="1844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  <a:latin typeface="Courier New"/>
              </a:rPr>
              <a:t>t+4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68839" y="3246120"/>
            <a:ext cx="1789176" cy="365760"/>
          </a:xfrm>
          <a:prstGeom prst="rect">
            <a:avLst/>
          </a:prstGeom>
          <a:solidFill>
            <a:srgbClr val="FFFFFF"/>
          </a:solidFill>
          <a:ln w="1206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9823703" y="3310127"/>
            <a:ext cx="0" cy="237745"/>
          </a:xfrm>
          <a:prstGeom prst="line">
            <a:avLst/>
          </a:prstGeom>
          <a:ln w="22860">
            <a:solidFill>
              <a:srgbClr val="2E6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905999" y="3310127"/>
            <a:ext cx="0" cy="237745"/>
          </a:xfrm>
          <a:prstGeom prst="line">
            <a:avLst/>
          </a:prstGeom>
          <a:ln w="22860">
            <a:solidFill>
              <a:srgbClr val="6E4E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768839" y="3630168"/>
            <a:ext cx="1844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4A4A"/>
                </a:solidFill>
                <a:latin typeface="Courier New"/>
              </a:rPr>
              <a:t>t+5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00837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Times New Roman"/>
              </a:rPr>
              <a:t>compute, load</a:t>
            </a:r>
            <a:r>
              <a:rPr sz="900" b="0" i="1">
                <a:solidFill>
                  <a:srgbClr val="4A4A4A"/>
                </a:solidFill>
                <a:latin typeface="Times New Roman"/>
              </a:rPr>
              <a:t>  (per-decision)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48640" y="4315968"/>
            <a:ext cx="11064240" cy="0"/>
          </a:xfrm>
          <a:prstGeom prst="line">
            <a:avLst/>
          </a:prstGeom>
          <a:ln w="12700">
            <a:solidFill>
              <a:srgbClr val="B5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8640" y="4281931"/>
            <a:ext cx="184404" cy="3403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33044" y="4248499"/>
            <a:ext cx="184404" cy="3343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17448" y="4216264"/>
            <a:ext cx="184404" cy="3223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01852" y="4185799"/>
            <a:ext cx="184404" cy="3046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286256" y="4157645"/>
            <a:ext cx="184404" cy="2815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470660" y="4132301"/>
            <a:ext cx="184404" cy="2534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655064" y="4110218"/>
            <a:ext cx="184404" cy="2208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39468" y="4091787"/>
            <a:ext cx="184404" cy="1843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023872" y="4077336"/>
            <a:ext cx="184404" cy="1445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08276" y="4067120"/>
            <a:ext cx="184404" cy="1021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392680" y="4061322"/>
            <a:ext cx="184404" cy="579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577084" y="4060045"/>
            <a:ext cx="184404" cy="127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761488" y="4060045"/>
            <a:ext cx="184404" cy="326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45892" y="4063310"/>
            <a:ext cx="184404" cy="775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130296" y="4071060"/>
            <a:ext cx="184404" cy="1209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314700" y="4083158"/>
            <a:ext cx="184404" cy="1623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499104" y="4099389"/>
            <a:ext cx="184404" cy="20075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683508" y="4119464"/>
            <a:ext cx="184403" cy="2356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67911" y="4143027"/>
            <a:ext cx="184405" cy="2663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052316" y="4169661"/>
            <a:ext cx="184404" cy="2923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236720" y="4198891"/>
            <a:ext cx="184403" cy="3130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421123" y="4230200"/>
            <a:ext cx="184405" cy="3283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605528" y="4263031"/>
            <a:ext cx="184404" cy="3377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789932" y="4296802"/>
            <a:ext cx="184404" cy="422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74336" y="4267176"/>
            <a:ext cx="184403" cy="3384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158739" y="4234196"/>
            <a:ext cx="184405" cy="3298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343144" y="4202668"/>
            <a:ext cx="184404" cy="3152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527548" y="4173151"/>
            <a:ext cx="184403" cy="2951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711951" y="4146169"/>
            <a:ext cx="184404" cy="2698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896355" y="4122202"/>
            <a:ext cx="184404" cy="2396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080759" y="4101674"/>
            <a:ext cx="184405" cy="2052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265164" y="4084950"/>
            <a:ext cx="184403" cy="1672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449567" y="4072327"/>
            <a:ext cx="184404" cy="1262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633971" y="4064029"/>
            <a:ext cx="184404" cy="8298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818375" y="4060203"/>
            <a:ext cx="184405" cy="382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002780" y="4060203"/>
            <a:ext cx="184403" cy="71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187183" y="4060917"/>
            <a:ext cx="184404" cy="524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71587" y="4066159"/>
            <a:ext cx="184405" cy="967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555992" y="4075836"/>
            <a:ext cx="184404" cy="1393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740396" y="4089775"/>
            <a:ext cx="184403" cy="1795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924799" y="4107729"/>
            <a:ext cx="184404" cy="2165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109203" y="4129380"/>
            <a:ext cx="184404" cy="24963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293607" y="4154343"/>
            <a:ext cx="184405" cy="2783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478012" y="4182175"/>
            <a:ext cx="184404" cy="3020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662416" y="4212382"/>
            <a:ext cx="184403" cy="3204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846819" y="4244428"/>
            <a:ext cx="184405" cy="33316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031224" y="4277744"/>
            <a:ext cx="184404" cy="3399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215628" y="4286127"/>
            <a:ext cx="184404" cy="2561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400032" y="4252587"/>
            <a:ext cx="184403" cy="3354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584435" y="4220173"/>
            <a:ext cx="184404" cy="3241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768839" y="4189459"/>
            <a:ext cx="184405" cy="3071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953244" y="4160990"/>
            <a:ext cx="184404" cy="28469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137648" y="4135273"/>
            <a:ext cx="184403" cy="25717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322051" y="4112763"/>
            <a:ext cx="184405" cy="2251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506456" y="4093861"/>
            <a:ext cx="184404" cy="1890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690860" y="4078901"/>
            <a:ext cx="184404" cy="14960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875264" y="4068149"/>
            <a:ext cx="184403" cy="1075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059667" y="4061797"/>
            <a:ext cx="184404" cy="6352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1244071" y="4059956"/>
            <a:ext cx="184405" cy="1841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1428476" y="4059956"/>
            <a:ext cx="184404" cy="2704"/>
          </a:xfrm>
          <a:prstGeom prst="line">
            <a:avLst/>
          </a:prstGeom>
          <a:ln w="20320">
            <a:solidFill>
              <a:srgbClr val="A85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48640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392680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236720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080759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924799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768839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1612880" y="3986783"/>
            <a:ext cx="0" cy="585216"/>
          </a:xfrm>
          <a:prstGeom prst="line">
            <a:avLst/>
          </a:prstGeom>
          <a:ln w="8890">
            <a:solidFill>
              <a:srgbClr val="B5B5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548640" y="3767327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85A28"/>
                </a:solidFill>
                <a:latin typeface="Times New Roman"/>
              </a:rPr>
              <a:t>power</a:t>
            </a:r>
            <a:r>
              <a:rPr sz="900" b="0" i="1">
                <a:solidFill>
                  <a:srgbClr val="4A4A4A"/>
                </a:solidFill>
                <a:latin typeface="Times New Roman"/>
              </a:rPr>
              <a:t>  (continuous)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2920" y="4754879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6.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(a) The router dispatches each request to one of several candidates. (b) Compute/load are resampled every 500 ms; power is read continuously, mid-trajectory.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1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75487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Times New Roman"/>
              </a:rPr>
              <a:t>power computed from each candidate’s own state only — no fleet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768095"/>
            <a:ext cx="7498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5A28"/>
                </a:solidFill>
                <a:latin typeface="Courier New"/>
              </a:rPr>
              <a:t>- - -  </a:t>
            </a:r>
            <a:r>
              <a:rPr sz="900" b="0" i="1">
                <a:solidFill>
                  <a:srgbClr val="4A4A4A"/>
                </a:solidFill>
                <a:latin typeface="Times New Roman"/>
              </a:rPr>
              <a:t>elevated_frac = 0.5</a:t>
            </a:r>
            <a:r>
              <a:rPr sz="1000" b="0" i="0">
                <a:solidFill>
                  <a:srgbClr val="6E6E6E"/>
                </a:solidFill>
                <a:latin typeface="Courier New"/>
              </a:rPr>
              <a:t>     ·····  </a:t>
            </a:r>
            <a:r>
              <a:rPr sz="900" b="0" i="1">
                <a:solidFill>
                  <a:srgbClr val="4A4A4A"/>
                </a:solidFill>
                <a:latin typeface="Times New Roman"/>
              </a:rPr>
              <a:t>compute/load (typical) ≈ 0.25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10607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8840" y="2020824"/>
            <a:ext cx="566928" cy="76809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0824" y="17465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5A28"/>
                </a:solidFill>
                <a:latin typeface="Courier New"/>
              </a:rPr>
              <a:t>0.60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284378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A85A28"/>
                </a:solidFill>
                <a:latin typeface="Times New Roman"/>
              </a:rPr>
              <a:t>c1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0607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2596896"/>
            <a:ext cx="566928" cy="192024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2322576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Courier New"/>
              </a:rPr>
              <a:t>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84378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c2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74536" y="10607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4536" y="2084831"/>
            <a:ext cx="566928" cy="704088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10511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5A28"/>
                </a:solidFill>
                <a:latin typeface="Courier New"/>
              </a:rPr>
              <a:t>0.55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4378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A85A28"/>
                </a:solidFill>
                <a:latin typeface="Times New Roman"/>
              </a:rPr>
              <a:t>c3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87383" y="10607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87383" y="2622499"/>
            <a:ext cx="566928" cy="166420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9367" y="2348179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Courier New"/>
              </a:rPr>
              <a:t>0.13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284378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c4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840" y="2148839"/>
            <a:ext cx="8668511" cy="0"/>
          </a:xfrm>
          <a:prstGeom prst="line">
            <a:avLst/>
          </a:prstGeom>
          <a:ln w="13970">
            <a:solidFill>
              <a:srgbClr val="A85A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" y="2468879"/>
            <a:ext cx="8668511" cy="0"/>
          </a:xfrm>
          <a:prstGeom prst="line">
            <a:avLst/>
          </a:prstGeom>
          <a:ln w="12700">
            <a:solidFill>
              <a:srgbClr val="6E6E6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36393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75888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  <a:latin typeface="Times New Roman"/>
              </a:rPr>
              <a:t>coincidence-ceiling: shared ceiling contracts when replicas ramp 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968496"/>
            <a:ext cx="7498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5A28"/>
                </a:solidFill>
                <a:latin typeface="Courier New"/>
              </a:rPr>
              <a:t>- - -  </a:t>
            </a:r>
            <a:r>
              <a:rPr sz="900" b="0" i="1">
                <a:solidFill>
                  <a:srgbClr val="4A4A4A"/>
                </a:solidFill>
                <a:latin typeface="Times New Roman"/>
              </a:rPr>
              <a:t>elevated_frac = 0.5</a:t>
            </a:r>
            <a:r>
              <a:rPr sz="1000" b="0" i="0">
                <a:solidFill>
                  <a:srgbClr val="6E6E6E"/>
                </a:solidFill>
                <a:latin typeface="Courier New"/>
              </a:rPr>
              <a:t>     ·····  </a:t>
            </a:r>
            <a:r>
              <a:rPr sz="900" b="0" i="1">
                <a:solidFill>
                  <a:srgbClr val="4A4A4A"/>
                </a:solidFill>
                <a:latin typeface="Times New Roman"/>
              </a:rPr>
              <a:t>compute/load (typical) ≈ 0.25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2611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48840" y="4453128"/>
            <a:ext cx="566928" cy="1536192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148840" y="5221224"/>
            <a:ext cx="5669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20824" y="417880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5A28"/>
                </a:solidFill>
                <a:latin typeface="Courier New"/>
              </a:rPr>
              <a:t>1.20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0824" y="6044183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A85A28"/>
                </a:solidFill>
                <a:latin typeface="Times New Roman"/>
              </a:rPr>
              <a:t>c1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8" y="42611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5605272"/>
            <a:ext cx="566928" cy="384048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361688" y="5797296"/>
            <a:ext cx="5669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33672" y="533095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Courier New"/>
              </a:rPr>
              <a:t>0.30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6044183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c2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74536" y="42611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74536" y="4581144"/>
            <a:ext cx="566928" cy="140817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574536" y="5285231"/>
            <a:ext cx="5669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46520" y="430682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5A28"/>
                </a:solidFill>
                <a:latin typeface="Courier New"/>
              </a:rPr>
              <a:t>1.10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6044183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A85A28"/>
                </a:solidFill>
                <a:latin typeface="Times New Roman"/>
              </a:rPr>
              <a:t>c3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87383" y="4261104"/>
            <a:ext cx="566928" cy="172821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87383" y="5656478"/>
            <a:ext cx="566928" cy="332841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8787383" y="5822899"/>
            <a:ext cx="5669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59367" y="538215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4A4A4A"/>
                </a:solidFill>
                <a:latin typeface="Courier New"/>
              </a:rPr>
              <a:t>0.26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9367" y="6044183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c4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05840" y="5349240"/>
            <a:ext cx="8668511" cy="0"/>
          </a:xfrm>
          <a:prstGeom prst="line">
            <a:avLst/>
          </a:prstGeom>
          <a:ln w="13970">
            <a:solidFill>
              <a:srgbClr val="A85A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5840" y="5669280"/>
            <a:ext cx="8668511" cy="0"/>
          </a:xfrm>
          <a:prstGeom prst="line">
            <a:avLst/>
          </a:prstGeom>
          <a:ln w="12700">
            <a:solidFill>
              <a:srgbClr val="6E6E6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732520" y="493775"/>
            <a:ext cx="3063240" cy="603504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78824" y="493775"/>
            <a:ext cx="27706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ramp_ceiling(c) unchanged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urier New"/>
              </a:rPr>
              <a:t>factor ≡ 1.0  for every 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520" y="3694176"/>
            <a:ext cx="3063240" cy="804672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8824" y="3749039"/>
            <a:ext cx="27706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ourier New"/>
              </a:rPr>
              <a:t>n_elevated = 2</a:t>
            </a:r>
            <a:r>
              <a:rPr sz="950" b="0" i="1">
                <a:solidFill>
                  <a:srgbClr val="4A4A4A"/>
                </a:solidFill>
                <a:latin typeface="Times New Roman"/>
              </a:rPr>
              <a:t>  (c1, c3 &gt; elevated_frac)</a:t>
            </a:r>
          </a:p>
          <a:p>
            <a:pPr algn="l"/>
            <a:r>
              <a:rPr sz="1050" b="0" i="0">
                <a:solidFill>
                  <a:srgbClr val="000000"/>
                </a:solidFill>
                <a:latin typeface="Courier New"/>
              </a:rPr>
              <a:t>factor = 1/(1+1·(2−1)) = 0.50</a:t>
            </a:r>
          </a:p>
          <a:p>
            <a:pPr algn="l"/>
            <a:r>
              <a:rPr sz="1050" b="1" i="0">
                <a:solidFill>
                  <a:srgbClr val="000000"/>
                </a:solidFill>
                <a:latin typeface="Courier New"/>
              </a:rPr>
              <a:t>→ ramp_ceiling(c) × 0.5  ∀c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1908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7.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Same fleet snapshot (c1, c3 simultaneously elevated); the coincidence-ceiling factor contracts every candidate's ramp_ceiling, not just the elevated ones' — doubling every Share_power(c) here and making power the binding term for the whole fleet, not only c1/c3.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E7D4F"/>
                </a:solidFill>
                <a:latin typeface="Courier New"/>
              </a:rPr>
              <a:t>A</a:t>
            </a:r>
            <a:r>
              <a:rPr sz="1200" b="0" i="1">
                <a:solidFill>
                  <a:srgbClr val="4A4A4A"/>
                </a:solidFill>
                <a:latin typeface="Times New Roman"/>
              </a:rPr>
              <a:t> Pareto-dominates </a:t>
            </a:r>
            <a:r>
              <a:rPr sz="1200" b="1" i="0">
                <a:solidFill>
                  <a:srgbClr val="9E2A2A"/>
                </a:solidFill>
                <a:latin typeface="Courier New"/>
              </a:rPr>
              <a:t>B</a:t>
            </a:r>
            <a:r>
              <a:rPr sz="1200" b="0" i="1">
                <a:solidFill>
                  <a:srgbClr val="4A4A4A"/>
                </a:solidFill>
                <a:latin typeface="Times New Roman"/>
              </a:rPr>
              <a:t>  —  equal load and power, strictly lower compute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530352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8536" y="594359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594359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4A4A4A"/>
                </a:solidFill>
                <a:latin typeface="Courier New"/>
              </a:rPr>
              <a:t>(0.30, 0.90, 0.90)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53128" y="914400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53128" y="914400"/>
            <a:ext cx="655624" cy="105156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3672" y="873252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1088136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1088136"/>
            <a:ext cx="1966874" cy="105156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046988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261872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261872"/>
            <a:ext cx="1966874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220724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530352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594359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594359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4A4A4A"/>
                </a:solidFill>
                <a:latin typeface="Courier New"/>
              </a:rPr>
              <a:t>(0.50, 0.90, 0.90)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2088" y="914400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62088" y="914400"/>
            <a:ext cx="1092708" cy="105156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1" y="873252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2088" y="1088136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2088" y="1088136"/>
            <a:ext cx="1966874" cy="105156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1046988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2088" y="1261872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62088" y="1261872"/>
            <a:ext cx="1966874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1" y="1220724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10312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(a)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212140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sorted rule (adopted)</a:t>
            </a:r>
            <a:r>
              <a:rPr sz="1100" b="0" i="1">
                <a:solidFill>
                  <a:srgbClr val="4A4A4A"/>
                </a:solidFill>
                <a:latin typeface="Times New Roman"/>
              </a:rPr>
              <a:t>  —  full lexicographic key sees the compute difference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487168"/>
            <a:ext cx="10835640" cy="960120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2487168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σ(A) = (0.90, 0.90, 0.30)</a:t>
            </a:r>
            <a:r>
              <a:rPr sz="1200" b="0" i="0">
                <a:solidFill>
                  <a:srgbClr val="000000"/>
                </a:solidFill>
                <a:latin typeface="Courier New"/>
              </a:rPr>
              <a:t>        σ(B) = (0.90, 0.90, 0.50)</a:t>
            </a:r>
          </a:p>
          <a:p>
            <a:pPr algn="l"/>
            <a:r>
              <a:rPr sz="1150" b="0" i="0">
                <a:solidFill>
                  <a:srgbClr val="4A4A4A"/>
                </a:solidFill>
                <a:latin typeface="Courier New"/>
              </a:rPr>
              <a:t>tie, tie, then  0.30 &lt; 0.50</a:t>
            </a:r>
            <a:r>
              <a:rPr sz="1150" b="0" i="1">
                <a:solidFill>
                  <a:srgbClr val="4A4A4A"/>
                </a:solidFill>
                <a:latin typeface="Times New Roman"/>
              </a:rPr>
              <a:t>   →   selects </a:t>
            </a:r>
            <a:r>
              <a:rPr sz="1250" b="1" i="0">
                <a:solidFill>
                  <a:srgbClr val="2E7D4F"/>
                </a:solidFill>
                <a:latin typeface="Courier New"/>
              </a:rPr>
              <a:t>A</a:t>
            </a:r>
            <a:r>
              <a:rPr sz="1150" b="1" i="0">
                <a:solidFill>
                  <a:srgbClr val="2E7D4F"/>
                </a:solidFill>
                <a:latin typeface="Times New Roman"/>
              </a:rPr>
              <a:t>   ✓  Pareto-non-dominated (Lemma 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0332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(b)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721607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named rule (rejected variant)</a:t>
            </a:r>
            <a:r>
              <a:rPr sz="1100" b="0" i="1">
                <a:solidFill>
                  <a:srgbClr val="4A4A4A"/>
                </a:solidFill>
                <a:latin typeface="Times New Roman"/>
              </a:rPr>
              <a:t>  —  compares power before load, ahead of D's own tie-break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087368"/>
            <a:ext cx="10835640" cy="1143000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087368"/>
            <a:ext cx="103327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key(A) = (D=0.90, power=0.90, load=0.90)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key(B) = (D=0.90, power=0.90, load=0.90)</a:t>
            </a:r>
            <a:r>
              <a:rPr sz="1050" b="0" i="1">
                <a:solidFill>
                  <a:srgbClr val="4A4A4A"/>
                </a:solidFill>
                <a:latin typeface="Times New Roman"/>
              </a:rPr>
              <a:t>   — identical; compute never enters</a:t>
            </a:r>
          </a:p>
          <a:p>
            <a:pPr algn="l"/>
            <a:r>
              <a:rPr sz="1150" b="0" i="0">
                <a:solidFill>
                  <a:srgbClr val="4A4A4A"/>
                </a:solidFill>
                <a:latin typeface="Courier New"/>
              </a:rPr>
              <a:t>tied on every compared coordinate</a:t>
            </a:r>
            <a:r>
              <a:rPr sz="1150" b="0" i="1">
                <a:solidFill>
                  <a:srgbClr val="4A4A4A"/>
                </a:solidFill>
                <a:latin typeface="Times New Roman"/>
              </a:rPr>
              <a:t>   →   iteration order selects </a:t>
            </a:r>
            <a:r>
              <a:rPr sz="1250" b="1" i="0">
                <a:solidFill>
                  <a:srgbClr val="9E2A2A"/>
                </a:solidFill>
                <a:latin typeface="Courier New"/>
              </a:rPr>
              <a:t>B</a:t>
            </a:r>
            <a:r>
              <a:rPr sz="1150" b="1" i="0">
                <a:solidFill>
                  <a:srgbClr val="9E2A2A"/>
                </a:solidFill>
                <a:latin typeface="Times New Roman"/>
              </a:rPr>
              <a:t>   ✗  Pareto-dominated (Claim 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8.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Same two candidates throughout. Sorting the full share vector before comparing lets the tie-break see compute once D ties, and always selects the non-dominated point (Lemma 1); fixing power ahead of load by name lets D tie while power and load also tie, so the rule never sees compute and can select the dominated candidate (Claim 1, §3.2).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ourier New"/>
              </a:rPr>
              <a:t>τ = 1.0</a:t>
            </a:r>
            <a:r>
              <a:rPr sz="1200" b="0" i="1">
                <a:solidFill>
                  <a:srgbClr val="4A4A4A"/>
                </a:solidFill>
                <a:latin typeface="Times New Roman"/>
              </a:rPr>
              <a:t>   —  </a:t>
            </a:r>
            <a:r>
              <a:rPr sz="1200" b="1" i="0">
                <a:solidFill>
                  <a:srgbClr val="2E7D4F"/>
                </a:solidFill>
                <a:latin typeface="Courier New"/>
              </a:rPr>
              <a:t>S</a:t>
            </a:r>
            <a:r>
              <a:rPr sz="1200" b="0" i="1">
                <a:solidFill>
                  <a:srgbClr val="4A4A4A"/>
                </a:solidFill>
                <a:latin typeface="Times New Roman"/>
              </a:rPr>
              <a:t> = (1, 1, 1) is safe (D=1≤τ);  </a:t>
            </a:r>
            <a:r>
              <a:rPr sz="1200" b="1" i="0">
                <a:solidFill>
                  <a:srgbClr val="9E2A2A"/>
                </a:solidFill>
                <a:latin typeface="Courier New"/>
              </a:rPr>
              <a:t>U</a:t>
            </a:r>
            <a:r>
              <a:rPr sz="1200" b="0" i="1">
                <a:solidFill>
                  <a:srgbClr val="4A4A4A"/>
                </a:solidFill>
                <a:latin typeface="Times New Roman"/>
              </a:rPr>
              <a:t> = (0, 0, 2) is not (D=2)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530352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8536" y="594359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594359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4A4A4A"/>
                </a:solidFill>
                <a:latin typeface="Courier New"/>
              </a:rPr>
              <a:t>(1, 1, 1)   </a:t>
            </a:r>
            <a:r>
              <a:rPr sz="1050" b="1" i="0">
                <a:solidFill>
                  <a:srgbClr val="000000"/>
                </a:solidFill>
                <a:latin typeface="Courier New"/>
              </a:rPr>
              <a:t>D=1</a:t>
            </a:r>
          </a:p>
        </p:txBody>
      </p:sp>
      <p:sp>
        <p:nvSpPr>
          <p:cNvPr id="6" name="Rectangle 5"/>
          <p:cNvSpPr/>
          <p:nvPr/>
        </p:nvSpPr>
        <p:spPr>
          <a:xfrm>
            <a:off x="4453128" y="914400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53128" y="914400"/>
            <a:ext cx="1092708" cy="105156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33672" y="873252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1088136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1088136"/>
            <a:ext cx="1092708" cy="105156"/>
          </a:xfrm>
          <a:prstGeom prst="rect">
            <a:avLst/>
          </a:prstGeom>
          <a:solidFill>
            <a:srgbClr val="6E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046988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261872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261872"/>
            <a:ext cx="1092708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220724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3228" y="475488"/>
            <a:ext cx="0" cy="1014984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80" y="530352"/>
            <a:ext cx="26060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594359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594359"/>
            <a:ext cx="2057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4A4A4A"/>
                </a:solidFill>
                <a:latin typeface="Courier New"/>
              </a:rPr>
              <a:t>(0, 0, 2)   </a:t>
            </a:r>
            <a:r>
              <a:rPr sz="1050" b="1" i="0">
                <a:solidFill>
                  <a:srgbClr val="000000"/>
                </a:solidFill>
                <a:latin typeface="Courier New"/>
              </a:rPr>
              <a:t>D=2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2088" y="914400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1" y="873252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6F9E"/>
                </a:solidFill>
                <a:latin typeface="Times New Roman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2088" y="1088136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1046988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E4E86"/>
                </a:solidFill>
                <a:latin typeface="Times New Roman"/>
              </a:rPr>
              <a:t>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2088" y="1261872"/>
            <a:ext cx="2185416" cy="105156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62088" y="1261872"/>
            <a:ext cx="2185416" cy="105156"/>
          </a:xfrm>
          <a:prstGeom prst="rect">
            <a:avLst/>
          </a:prstGeom>
          <a:solidFill>
            <a:srgbClr val="A8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1" y="1220724"/>
            <a:ext cx="182880" cy="1874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A85A28"/>
                </a:solidFill>
                <a:latin typeface="Times New Roman"/>
              </a:rPr>
              <a:t>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62188" y="475488"/>
            <a:ext cx="0" cy="1014984"/>
          </a:xfrm>
          <a:prstGeom prst="line">
            <a:avLst/>
          </a:prstGeom>
          <a:ln w="1397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60520" y="1737360"/>
            <a:ext cx="5715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  <a:latin typeface="Times New Roman"/>
              </a:rPr>
              <a:t>- - -  τ = 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0312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(a)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121408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sorted rule (adopted)</a:t>
            </a:r>
            <a:r>
              <a:rPr sz="1100" b="0" i="1">
                <a:solidFill>
                  <a:srgbClr val="4A4A4A"/>
                </a:solidFill>
                <a:latin typeface="Times New Roman"/>
              </a:rPr>
              <a:t>  —  sorts on D first, for every τ simultaneously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487168"/>
            <a:ext cx="10835640" cy="960120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2487168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pick = argmin</a:t>
            </a:r>
            <a:r>
              <a:rPr sz="850" b="0" i="0">
                <a:solidFill>
                  <a:srgbClr val="000000"/>
                </a:solidFill>
                <a:latin typeface="Courier New"/>
              </a:rPr>
              <a:t>c</a:t>
            </a:r>
            <a:r>
              <a:rPr sz="1200" b="0" i="0">
                <a:solidFill>
                  <a:srgbClr val="000000"/>
                </a:solidFill>
                <a:latin typeface="Courier New"/>
              </a:rPr>
              <a:t> D(c)  =  min(D(S), D(U))  =  min(1, 2)</a:t>
            </a:r>
          </a:p>
          <a:p>
            <a:pPr algn="l"/>
            <a:r>
              <a:rPr sz="1150" b="0" i="0">
                <a:solidFill>
                  <a:srgbClr val="4A4A4A"/>
                </a:solidFill>
                <a:latin typeface="Courier New"/>
              </a:rPr>
              <a:t>a safe candidate (D≤τ) is available</a:t>
            </a:r>
            <a:r>
              <a:rPr sz="1150" b="0" i="1">
                <a:solidFill>
                  <a:srgbClr val="4A4A4A"/>
                </a:solidFill>
                <a:latin typeface="Times New Roman"/>
              </a:rPr>
              <a:t>   →   selects </a:t>
            </a:r>
            <a:r>
              <a:rPr sz="1250" b="1" i="0">
                <a:solidFill>
                  <a:srgbClr val="2E7D4F"/>
                </a:solidFill>
                <a:latin typeface="Courier New"/>
              </a:rPr>
              <a:t>S</a:t>
            </a:r>
            <a:r>
              <a:rPr sz="1150" b="1" i="0">
                <a:solidFill>
                  <a:srgbClr val="2E7D4F"/>
                </a:solidFill>
                <a:latin typeface="Times New Roman"/>
              </a:rPr>
              <a:t>   ✓  threshold-safe, for every τ at once (Thm. 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03320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Times New Roman"/>
              </a:rPr>
              <a:t>(b)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721607"/>
            <a:ext cx="9875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/>
              </a:rPr>
              <a:t>weighted_sum (any fixed weights)</a:t>
            </a:r>
            <a:r>
              <a:rPr sz="1100" b="0" i="1">
                <a:solidFill>
                  <a:srgbClr val="4A4A4A"/>
                </a:solidFill>
                <a:latin typeface="Times New Roman"/>
              </a:rPr>
              <a:t>  —  a zero coordinate can outweigh D itself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087368"/>
            <a:ext cx="10835640" cy="1143000"/>
          </a:xfrm>
          <a:prstGeom prst="roundRect">
            <a:avLst>
              <a:gd name="adj" fmla="val 4000"/>
            </a:avLst>
          </a:prstGeom>
          <a:noFill/>
          <a:ln w="1333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087368"/>
            <a:ext cx="103327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weighted_sum(S) = 0.33·1 + 0.33·1 + 0.33·1 = 0.990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weighted_sum(U) = 0.33·0 + 0.33·0 + 0.33·2 = 0.660</a:t>
            </a:r>
            <a:r>
              <a:rPr sz="1050" b="0" i="1">
                <a:solidFill>
                  <a:srgbClr val="4A4A4A"/>
                </a:solidFill>
                <a:latin typeface="Times New Roman"/>
              </a:rPr>
              <a:t>   — lower score wins</a:t>
            </a:r>
          </a:p>
          <a:p>
            <a:pPr algn="l"/>
            <a:r>
              <a:rPr sz="1150" b="0" i="0">
                <a:solidFill>
                  <a:srgbClr val="4A4A4A"/>
                </a:solidFill>
                <a:latin typeface="Courier New"/>
              </a:rPr>
              <a:t>0.660 &lt; 0.990</a:t>
            </a:r>
            <a:r>
              <a:rPr sz="1150" b="0" i="1">
                <a:solidFill>
                  <a:srgbClr val="4A4A4A"/>
                </a:solidFill>
                <a:latin typeface="Times New Roman"/>
              </a:rPr>
              <a:t>   →   selects </a:t>
            </a:r>
            <a:r>
              <a:rPr sz="1250" b="1" i="0">
                <a:solidFill>
                  <a:srgbClr val="9E2A2A"/>
                </a:solidFill>
                <a:latin typeface="Courier New"/>
              </a:rPr>
              <a:t>U</a:t>
            </a:r>
            <a:r>
              <a:rPr sz="1150" b="1" i="0">
                <a:solidFill>
                  <a:srgbClr val="9E2A2A"/>
                </a:solidFill>
                <a:latin typeface="Times New Roman"/>
              </a:rPr>
              <a:t>   ✗  unsafe, though S was available (Thm. 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Times New Roman"/>
              </a:rPr>
              <a:t>Fig. 9. </a:t>
            </a:r>
            <a:r>
              <a:rPr sz="1100" b="0" i="0">
                <a:solidFill>
                  <a:srgbClr val="000000"/>
                </a:solidFill>
                <a:latin typeface="Times New Roman"/>
              </a:rPr>
              <a:t>Threshold-safety: whenever some candidate's D(c) is at or below a threshold τ, the adopted rule's pick is too, for every τ at once, because it sorts on D first (Theorem 4). No fixed-weight rule can have this property for any weights (Theorem 5): a large enough zero-elsewhere spike always outweighs a merely-safe candidate in the sum, as with weighted_sum here, which loses S to U 11.71% of the time on generic instances at these weights and τ=1.0.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